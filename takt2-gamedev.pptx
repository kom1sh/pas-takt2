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image" Target="../media/image31.png"/><Relationship Id="rId28" Type="http://schemas.openxmlformats.org/officeDocument/2006/relationships/image" Target="../media/image32.png"/><Relationship Id="rId29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1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14.png"/><Relationship Id="rId6" Type="http://schemas.openxmlformats.org/officeDocument/2006/relationships/image" Target="../media/image5.png"/><Relationship Id="rId7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10.png"/><Relationship Id="rId6" Type="http://schemas.openxmlformats.org/officeDocument/2006/relationships/image" Target="../media/image39.png"/><Relationship Id="rId7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Relationship Id="rId6" Type="http://schemas.openxmlformats.org/officeDocument/2006/relationships/image" Target="../media/image36.png"/><Relationship Id="rId7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6.png"/><Relationship Id="rId4" Type="http://schemas.openxmlformats.org/officeDocument/2006/relationships/image" Target="../media/image25.png"/><Relationship Id="rId5" Type="http://schemas.openxmlformats.org/officeDocument/2006/relationships/image" Target="../media/image24.png"/><Relationship Id="rId6" Type="http://schemas.openxmlformats.org/officeDocument/2006/relationships/image" Target="../media/image23.png"/><Relationship Id="rId7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3.png"/><Relationship Id="rId8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1.png"/><Relationship Id="rId4" Type="http://schemas.openxmlformats.org/officeDocument/2006/relationships/image" Target="../media/image13.png"/><Relationship Id="rId5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4.png"/><Relationship Id="rId4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2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ttered.io/unreal-engine-6-unity-market-share-2026" TargetMode="External"/><Relationship Id="rId3" Type="http://schemas.openxmlformats.org/officeDocument/2006/relationships/hyperlink" Target="https://levvvel.com/statistics/pc-gaming" TargetMode="External"/><Relationship Id="rId4" Type="http://schemas.openxmlformats.org/officeDocument/2006/relationships/hyperlink" Target="https://shattered.io/steam-vs-epic-games-store/" TargetMode="External"/><Relationship Id="rId5" Type="http://schemas.openxmlformats.org/officeDocument/2006/relationships/hyperlink" Target="https://shattered.io/epic-games-store-revenue-2026/" TargetMode="External"/><Relationship Id="rId6" Type="http://schemas.openxmlformats.org/officeDocument/2006/relationships/hyperlink" Target="https://www.unrealengine.com/license" TargetMode="External"/><Relationship Id="rId7" Type="http://schemas.openxmlformats.org/officeDocument/2006/relationships/hyperlink" Target="https://developer.apple.com/app-store/small-business-program/" TargetMode="External"/><Relationship Id="rId8" Type="http://schemas.openxmlformats.org/officeDocument/2006/relationships/hyperlink" Target="https://support.google.com/googleplay/android-developer/answer/112622" TargetMode="External"/><Relationship Id="rId9" Type="http://schemas.openxmlformats.org/officeDocument/2006/relationships/hyperlink" Target="https://www.cdprojekt.com/en/media/news/new-witcher-saga-announced-cd-projekt-red-begins-development-on-unreal-engine-5-as-part-of-a-strategic-partnership-with-epic-games/" TargetMode="External"/><Relationship Id="rId10" Type="http://schemas.openxmlformats.org/officeDocument/2006/relationships/hyperlink" Target="https://www.verifiedmarketreports.com/product/game-outsourcing-service-market/" TargetMode="External"/><Relationship Id="rId11" Type="http://schemas.openxmlformats.org/officeDocument/2006/relationships/hyperlink" Target="https://gameworldobserver.com/2020/02/11/sony-paid-229m-insomniac-games" TargetMode="External"/><Relationship Id="rId12" Type="http://schemas.openxmlformats.org/officeDocument/2006/relationships/hyperlink" Target="https://techcrunch.com/2015/12/16/tencent-takes-full-control-of-league-of-legends-creator-riot-games/" TargetMode="External"/><Relationship Id="rId13" Type="http://schemas.openxmlformats.org/officeDocument/2006/relationships/hyperlink" Target="https://www.cnbc.com/2020/12/18/sony-pulls-cyberpunk-2077-from-playstation-store-after-backlash.html" TargetMode="External"/><Relationship Id="rId14" Type="http://schemas.openxmlformats.org/officeDocument/2006/relationships/hyperlink" Target="https://www.cnbc.com/2025/05/20/apple-fortnite-app-store-epic-games.html" TargetMode="External"/><Relationship Id="rId15" Type="http://schemas.openxmlformats.org/officeDocument/2006/relationships/hyperlink" Target="https://habr.com/ru/news/687214/" TargetMode="External"/><Relationship Id="rId16" Type="http://schemas.openxmlformats.org/officeDocument/2006/relationships/hyperlink" Target="https://www.nintendo.com/us/store/products/super-mario-bros-nes-nintendo-switch-online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ПАС · ИТ-1 · 3 КУРС ·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01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8229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16140F"/>
                </a:solidFill>
                <a:latin typeface="Onest"/>
              </a:rPr>
              <a:t>ГЕЙМДЕВ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3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16140F"/>
                </a:solidFill>
                <a:latin typeface="Onest"/>
              </a:rPr>
              <a:t>Такт 2. Объекты конкуренции
и бутылочные горлышки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5074920"/>
            <a:ext cx="11002975" cy="0"/>
          </a:xfrm>
          <a:prstGeom prst="line">
            <a:avLst/>
          </a:prstGeom>
          <a:ln>
            <a:solidFill>
              <a:srgbClr val="8A4A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257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Разбираем на Cyberpunk 2077 и CD Projekt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8 этажей · 1 горлышко · прототип для правок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61391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6139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ОПРЕДЕЛЕНИЕ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такое геймдев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6583680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234440" cy="123444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pla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277063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4069080"/>
            <a:ext cx="6071616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6140F"/>
                </a:solidFill>
                <a:latin typeface="Onest"/>
              </a:rPr>
              <a:t>Программные интерактивные системы, в которых пользователь </a:t>
            </a:r>
            <a:r>
              <a:rPr sz="1500" b="1">
                <a:solidFill>
                  <a:srgbClr val="16140F"/>
                </a:solidFill>
                <a:latin typeface="Onest"/>
              </a:rPr>
              <a:t>добровольно действует в рамках искусственных правил</a:t>
            </a:r>
            <a:r>
              <a:rPr sz="1500" b="0">
                <a:solidFill>
                  <a:srgbClr val="16140F"/>
                </a:solidFill>
                <a:latin typeface="Onest"/>
              </a:rPr>
              <a:t>, а система непрерывно отвечает на его действия, — с доведением продукта и его поддержки до аудитории </a:t>
            </a:r>
            <a:r>
              <a:rPr sz="1500" b="1">
                <a:solidFill>
                  <a:srgbClr val="16140F"/>
                </a:solidFill>
                <a:latin typeface="Onest"/>
              </a:rPr>
              <a:t>через цифровые площадки дистрибуции</a:t>
            </a:r>
            <a:r>
              <a:rPr sz="1500" b="0">
                <a:solidFill>
                  <a:srgbClr val="16140F"/>
                </a:solidFill>
                <a:latin typeface="Ones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240280"/>
            <a:ext cx="4236415" cy="3794760"/>
          </a:xfrm>
          <a:prstGeom prst="roundRect">
            <a:avLst>
              <a:gd name="adj" fmla="val 3855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6952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734056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12464"/>
            <a:ext cx="372435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Не геймдев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4151376"/>
            <a:ext cx="372435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Веб-дизайн, тренажёры и обучающие симуляторы, классические приложения, розничная продажа игр, настольные игры.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19329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932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 конкуренции — то,
обладание которым даёт преимущество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ke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Право, стандарт,
опыт, внимание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можно удерживать. А пока удерживаешь — другим сюда хода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mon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Но не деньги
и не доля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ресурс на входе и следствие на выходе. За них не дерутся — их получают.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Проверка: сравни
с этажом выше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Объект тот же — значит, это один уровень, а не два. Если объект нельзя измерить — мы его не называем.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КАРТА
УРОВНЕЙ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Восемь этажей, на каждом свой объект конкуренции.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СХЕМА · РАЗМЕТКА КАРТЫ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96012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79" y="960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05495" y="9601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5272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25272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25272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125272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Право на мир и героев: лицензии на франшизы</a:t>
            </a:r>
          </a:p>
        </p:txBody>
      </p:sp>
      <p:pic>
        <p:nvPicPr>
          <p:cNvPr id="12" name="Picture 1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371600"/>
            <a:ext cx="365760" cy="365760"/>
          </a:xfrm>
          <a:prstGeom prst="rect">
            <a:avLst/>
          </a:prstGeom>
        </p:spPr>
      </p:pic>
      <p:pic>
        <p:nvPicPr>
          <p:cNvPr id="13" name="Picture 12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1371600"/>
            <a:ext cx="365760" cy="365760"/>
          </a:xfrm>
          <a:prstGeom prst="rect">
            <a:avLst/>
          </a:prstGeom>
        </p:spPr>
      </p:pic>
      <p:pic>
        <p:nvPicPr>
          <p:cNvPr id="14" name="Picture 13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1371600"/>
            <a:ext cx="365760" cy="3657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94360" y="192024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2024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192024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192024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Решение о финансировании — greenlight</a:t>
            </a:r>
          </a:p>
        </p:txBody>
      </p:sp>
      <p:pic>
        <p:nvPicPr>
          <p:cNvPr id="19" name="Picture 18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039112"/>
            <a:ext cx="365760" cy="365760"/>
          </a:xfrm>
          <a:prstGeom prst="rect">
            <a:avLst/>
          </a:prstGeom>
        </p:spPr>
      </p:pic>
      <p:pic>
        <p:nvPicPr>
          <p:cNvPr id="20" name="Picture 1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039112"/>
            <a:ext cx="365760" cy="365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60" y="258775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8775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258775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258775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Выбор студий: кто станет стандартом</a:t>
            </a:r>
          </a:p>
        </p:txBody>
      </p:sp>
      <p:pic>
        <p:nvPicPr>
          <p:cNvPr id="25" name="Picture 24" descr="godoteng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2706624"/>
            <a:ext cx="365760" cy="365760"/>
          </a:xfrm>
          <a:prstGeom prst="rect">
            <a:avLst/>
          </a:prstGeom>
        </p:spPr>
      </p:pic>
      <p:pic>
        <p:nvPicPr>
          <p:cNvPr id="26" name="Picture 25" descr="un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2706624"/>
            <a:ext cx="365760" cy="365760"/>
          </a:xfrm>
          <a:prstGeom prst="rect">
            <a:avLst/>
          </a:prstGeom>
        </p:spPr>
      </p:pic>
      <p:pic>
        <p:nvPicPr>
          <p:cNvPr id="27" name="Picture 26" descr="unrealeng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2706624"/>
            <a:ext cx="365760" cy="3657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94360" y="3255264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255264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255264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Компоненты
и аутсорс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79" y="3255264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pic>
        <p:nvPicPr>
          <p:cNvPr id="32" name="Picture 31" descr="jal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69872" y="3374136"/>
            <a:ext cx="744582" cy="365760"/>
          </a:xfrm>
          <a:prstGeom prst="rect">
            <a:avLst/>
          </a:prstGeom>
        </p:spPr>
      </p:pic>
      <p:pic>
        <p:nvPicPr>
          <p:cNvPr id="33" name="Picture 32" descr="keyword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54888" y="3445850"/>
            <a:ext cx="868680" cy="222331"/>
          </a:xfrm>
          <a:prstGeom prst="rect">
            <a:avLst/>
          </a:prstGeom>
        </p:spPr>
      </p:pic>
      <p:pic>
        <p:nvPicPr>
          <p:cNvPr id="34" name="Picture 33" descr="room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336" y="3374136"/>
            <a:ext cx="841248" cy="365760"/>
          </a:xfrm>
          <a:prstGeom prst="rect">
            <a:avLst/>
          </a:prstGeom>
        </p:spPr>
      </p:pic>
      <p:pic>
        <p:nvPicPr>
          <p:cNvPr id="35" name="Picture 34" descr="virtuo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52352" y="3438942"/>
            <a:ext cx="868680" cy="236146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94360" y="3922776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922776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1288" y="3922776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79" y="3922776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Выбор игроком игры — какую играть</a:t>
            </a:r>
          </a:p>
        </p:txBody>
      </p:sp>
      <p:pic>
        <p:nvPicPr>
          <p:cNvPr id="40" name="Picture 3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4041648"/>
            <a:ext cx="365760" cy="365760"/>
          </a:xfrm>
          <a:prstGeom prst="rect">
            <a:avLst/>
          </a:prstGeom>
        </p:spPr>
      </p:pic>
      <p:pic>
        <p:nvPicPr>
          <p:cNvPr id="41" name="Picture 40" descr="riotgam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36631" y="4041648"/>
            <a:ext cx="365760" cy="365760"/>
          </a:xfrm>
          <a:prstGeom prst="rect">
            <a:avLst/>
          </a:prstGeom>
        </p:spPr>
      </p:pic>
      <p:pic>
        <p:nvPicPr>
          <p:cNvPr id="42" name="Picture 41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4041648"/>
            <a:ext cx="365760" cy="365760"/>
          </a:xfrm>
          <a:prstGeom prst="rect">
            <a:avLst/>
          </a:prstGeom>
        </p:spPr>
      </p:pic>
      <p:pic>
        <p:nvPicPr>
          <p:cNvPr id="43" name="Picture 42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4041648"/>
            <a:ext cx="365760" cy="36576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94360" y="459028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459028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" y="459028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Издание
и маркетинг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79" y="459028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Права на издание и релиз</a:t>
            </a:r>
          </a:p>
        </p:txBody>
      </p:sp>
      <p:pic>
        <p:nvPicPr>
          <p:cNvPr id="48" name="Picture 47" descr="squareenix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048695" y="4709159"/>
            <a:ext cx="365760" cy="365760"/>
          </a:xfrm>
          <a:prstGeom prst="rect">
            <a:avLst/>
          </a:prstGeom>
        </p:spPr>
      </p:pic>
      <p:pic>
        <p:nvPicPr>
          <p:cNvPr id="49" name="Picture 48" descr="e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36631" y="4709159"/>
            <a:ext cx="365760" cy="365760"/>
          </a:xfrm>
          <a:prstGeom prst="rect">
            <a:avLst/>
          </a:prstGeom>
        </p:spPr>
      </p:pic>
      <p:pic>
        <p:nvPicPr>
          <p:cNvPr id="50" name="Picture 49" descr="ubiso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24567" y="4709159"/>
            <a:ext cx="365760" cy="365760"/>
          </a:xfrm>
          <a:prstGeom prst="rect">
            <a:avLst/>
          </a:prstGeom>
        </p:spPr>
      </p:pic>
      <p:pic>
        <p:nvPicPr>
          <p:cNvPr id="51" name="Picture 50" descr="sony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12503" y="4709159"/>
            <a:ext cx="365760" cy="365760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594360" y="525780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0664" y="525780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1288" y="525780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Платформы
и железо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79" y="525780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6" name="Picture 55" descr="androi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048695" y="5376672"/>
            <a:ext cx="365760" cy="365760"/>
          </a:xfrm>
          <a:prstGeom prst="rect">
            <a:avLst/>
          </a:prstGeom>
        </p:spPr>
      </p:pic>
      <p:pic>
        <p:nvPicPr>
          <p:cNvPr id="57" name="Picture 56" descr="appl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536631" y="5376672"/>
            <a:ext cx="365760" cy="365760"/>
          </a:xfrm>
          <a:prstGeom prst="rect">
            <a:avLst/>
          </a:prstGeom>
        </p:spPr>
      </p:pic>
      <p:pic>
        <p:nvPicPr>
          <p:cNvPr id="58" name="Picture 57" descr="nintendoswitch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24567" y="5376672"/>
            <a:ext cx="365760" cy="365760"/>
          </a:xfrm>
          <a:prstGeom prst="rect">
            <a:avLst/>
          </a:prstGeom>
        </p:spPr>
      </p:pic>
      <p:pic>
        <p:nvPicPr>
          <p:cNvPr id="59" name="Picture 58" descr="xbox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12503" y="5376672"/>
            <a:ext cx="365760" cy="365760"/>
          </a:xfrm>
          <a:prstGeom prst="rect">
            <a:avLst/>
          </a:prstGeom>
        </p:spPr>
      </p:pic>
      <p:pic>
        <p:nvPicPr>
          <p:cNvPr id="60" name="Picture 59" descr="playstatio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000439" y="5376672"/>
            <a:ext cx="365760" cy="36576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94360" y="592531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0664" y="592531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61288" y="592531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79" y="592531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9A52"/>
                </a:solidFill>
                <a:latin typeface="Onest"/>
              </a:rPr>
              <a:t>Аккаунт и библиотека игрока; каталог разработчиков</a:t>
            </a:r>
          </a:p>
        </p:txBody>
      </p:sp>
      <p:pic>
        <p:nvPicPr>
          <p:cNvPr id="65" name="Picture 64" descr="googleplay_pap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048695" y="6044184"/>
            <a:ext cx="365760" cy="365760"/>
          </a:xfrm>
          <a:prstGeom prst="rect">
            <a:avLst/>
          </a:prstGeom>
        </p:spPr>
      </p:pic>
      <p:pic>
        <p:nvPicPr>
          <p:cNvPr id="66" name="Picture 65" descr="appstore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536631" y="6044184"/>
            <a:ext cx="365760" cy="365760"/>
          </a:xfrm>
          <a:prstGeom prst="rect">
            <a:avLst/>
          </a:prstGeom>
        </p:spPr>
      </p:pic>
      <p:pic>
        <p:nvPicPr>
          <p:cNvPr id="67" name="Picture 66" descr="nintendoswitch_paper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24567" y="6044184"/>
            <a:ext cx="365760" cy="365760"/>
          </a:xfrm>
          <a:prstGeom prst="rect">
            <a:avLst/>
          </a:prstGeom>
        </p:spPr>
      </p:pic>
      <p:pic>
        <p:nvPicPr>
          <p:cNvPr id="68" name="Picture 67" descr="xbox_paper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512503" y="6044184"/>
            <a:ext cx="365760" cy="365760"/>
          </a:xfrm>
          <a:prstGeom prst="rect">
            <a:avLst/>
          </a:prstGeom>
        </p:spPr>
      </p:pic>
      <p:pic>
        <p:nvPicPr>
          <p:cNvPr id="69" name="Picture 68" descr="playstation_paper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000439" y="6044184"/>
            <a:ext cx="365760" cy="365760"/>
          </a:xfrm>
          <a:prstGeom prst="rect">
            <a:avLst/>
          </a:prstGeom>
        </p:spPr>
      </p:pic>
      <p:pic>
        <p:nvPicPr>
          <p:cNvPr id="70" name="Picture 69" descr="steam_paper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488375" y="604418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6634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01 · ИНТЕЛЛЕКТУАЛЬНАЯ СОБСТВЕННОСТЬ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Интеллектуальная собственность:
право на мир и героев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int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" y="3136392"/>
            <a:ext cx="303367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Если ты не Nintendo —
не сделаешь Mario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9709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Право исключительное: у одного есть, у остальных нет. Mario 1985 года всё ещё закрывает этаж.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k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Барьер не денежный,
а юридический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Купить нельзя, если владелец не продаёт. Но свою ИС можно создать с нуля — Half-Life, Minecraft — значит, не горлышко.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shield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лицензии на франшизы — Marvel, Star Wars, Warhammer. Кто получил права, тот и делает игру по миру.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CD Projekt не придумала Найт-Сити — взяла права на настольную Cyberpunk 2020 у Майка Пондсмита.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24485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2448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02 · КОНЦЕПТ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Концепт:
решение о финансировании (greenlight)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doc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42615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концепт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Документ, по которому считают бюджет, сроки и риск. «Хотим RPG про киберпанк» — это ещё не он.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compare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решение дать денег. Внутри Rockstar концепты конкурируют за greenlight между собой; инди — за издателя или платформенный грант снаружи.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layers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Риск разный —
объект один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Rockstar ставит миллиарды и 13–15 лет, инди — год и тысячи долларов. Не «низкий» и «высокий» риск, а разный масштаб одной ставки на greenlight.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концепт Пондсмита прошёл greenlight в CD Projekt после успеха «Ведьмака 3» — на ресурсах и репутации студии.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03 · ДВИЖКИ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Движки и инструменты:
выбор студий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real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u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godot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Два движка — у 72% студий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Unreal — 42%, Unity — 30% по опросу GDC 2026. Godot — 8–10% релизов в Steam. Кого выбирают студии, тот становится стандартом.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layers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Стандарт — следствие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Под движок нанимают людей, строят пайплайн, покупают ассеты. Сменить — значит переучить студию. Но можно: Valve ушла с Quake на GoldSrc.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ckstargames_pap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pic>
        <p:nvPicPr>
          <p:cNvPr id="19" name="Picture 18" descr="valve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914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Свой движок: RAGE,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Rockstar и Valve держат свои. Закрытость ценой выбора подрядчиков: этаж 03 управляет этажом 04.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сделан на своём REDengine; в 2022-м CD Projekt объявила переход на Unreal Engine 5 — свой движок оказался заменяемым.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04 · КОМПОНЕНТЫ И АУТСОРС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Компоненты и аутсорс:
контракты разработчиков и издателей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rt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532976"/>
            <a:ext cx="1143000" cy="310718"/>
          </a:xfrm>
          <a:prstGeom prst="rect">
            <a:avLst/>
          </a:prstGeom>
        </p:spPr>
      </p:pic>
      <p:pic>
        <p:nvPicPr>
          <p:cNvPr id="8" name="Picture 7" descr="room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984" y="2439857"/>
            <a:ext cx="1143000" cy="496956"/>
          </a:xfrm>
          <a:prstGeom prst="rect">
            <a:avLst/>
          </a:prstGeom>
        </p:spPr>
      </p:pic>
      <p:pic>
        <p:nvPicPr>
          <p:cNvPr id="9" name="Picture 8" descr="keywo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2542065"/>
            <a:ext cx="1143000" cy="292541"/>
          </a:xfrm>
          <a:prstGeom prst="rect">
            <a:avLst/>
          </a:prstGeom>
        </p:spPr>
      </p:pic>
      <p:pic>
        <p:nvPicPr>
          <p:cNvPr id="10" name="Picture 9" descr="jal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2407599"/>
            <a:ext cx="1143000" cy="5614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Сотни студий
с узким профилем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Virtuos и Keywords — производство, Room 8 — арт, JALI — лицевая анимация. Конкурируют за контракты; оружие — опыт: опыт → качество → цена → срок.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compar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Отбор формальный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Титры похожих игр, фильтр по профилю, арт-тест, пилот на реальном контенте — и только потом контракт.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ckstargames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Контрмодель: Rockstar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Свои студии и свой движок. Внешнего арт-аутсорса почти нет — ценой закрытости.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собран из компонентов внешних команд — механики, лицевая анимация, звук, QA — всё разными студиями.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05 · РАЗРАБОТКА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Разработка:
выбор игроком игры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rockstarg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riotgam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pic>
        <p:nvPicPr>
          <p:cNvPr id="10" name="Picture 9" descr="val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4048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Кто делает саму игру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CD Projekt RED, Rockstar North, Riot, Valve, Insomniac. Самый населённый этаж — тысячи студий.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ey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Какую играть —
не где покупать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Разработчик конкурирует за выбор игры игроком. Витрина — за то, где он её купит. Два разных объекта.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layers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Заменяем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Студий много, профили пересекаются. Игра переживает смену разработчика — Risk of Rain пережила.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разработчик — CD Projekt RED, около 500 человек в пике производства.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06 · ИЗДАНИЕ И МАРКЕТИНГ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Издание:
права на издание и релиз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ИЗДАТЕЛЬ</a:t>
            </a:r>
          </a:p>
        </p:txBody>
      </p:sp>
      <p:pic>
        <p:nvPicPr>
          <p:cNvPr id="8" name="Picture 7" descr="s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97479"/>
            <a:ext cx="566928" cy="566928"/>
          </a:xfrm>
          <a:prstGeom prst="rect">
            <a:avLst/>
          </a:prstGeom>
        </p:spPr>
      </p:pic>
      <p:pic>
        <p:nvPicPr>
          <p:cNvPr id="9" name="Picture 8" descr="ubi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697479"/>
            <a:ext cx="566928" cy="566928"/>
          </a:xfrm>
          <a:prstGeom prst="rect">
            <a:avLst/>
          </a:prstGeom>
        </p:spPr>
      </p:pic>
      <p:pic>
        <p:nvPicPr>
          <p:cNvPr id="10" name="Picture 9" descr="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697479"/>
            <a:ext cx="566928" cy="566928"/>
          </a:xfrm>
          <a:prstGeom prst="rect">
            <a:avLst/>
          </a:prstGeom>
        </p:spPr>
      </p:pic>
      <p:pic>
        <p:nvPicPr>
          <p:cNvPr id="11" name="Picture 10" descr="squareen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697479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3429000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Издатель ≠ разработчик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178808"/>
            <a:ext cx="3033674" cy="1536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«Человека-паука» 2018 года сделала Insomniac — тогда независимая студия. Sony была издателем и купила её через год за $229 млн.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9010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ХОЛДИНГ</a:t>
            </a:r>
          </a:p>
        </p:txBody>
      </p:sp>
      <p:sp>
        <p:nvSpPr>
          <p:cNvPr id="16" name="Oval 15"/>
          <p:cNvSpPr/>
          <p:nvPr/>
        </p:nvSpPr>
        <p:spPr>
          <a:xfrm>
            <a:off x="4579010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layers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935224"/>
            <a:ext cx="576071" cy="5760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010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Холдинг — доли
в тех, кто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9010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Tencent взяла 93% Riot в 2011-м и весь остаток к 2015-му. Игр не делает сама.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26A1B"/>
                </a:solidFill>
                <a:latin typeface="Onest"/>
              </a:rPr>
              <a:t>ОШИБКА СТАРОЙ КАРТЫ</a:t>
            </a:r>
          </a:p>
        </p:txBody>
      </p:sp>
      <p:sp>
        <p:nvSpPr>
          <p:cNvPr id="22" name="Oval 21"/>
          <p:cNvSpPr/>
          <p:nvPr/>
        </p:nvSpPr>
        <p:spPr>
          <a:xfrm>
            <a:off x="8307628" y="2697479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i_compare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935224"/>
            <a:ext cx="576071" cy="5760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07628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Три роли,
три объекта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На старой карте Tencent и Sony стояли на «разработке». Разработчик, издатель и холдинг конкурируют за разное.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у CD Projekt издатель и разработчик — разные юрлица одной группы.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401568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4015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07 · ПЛАТФОРМЫ И ЖЕЛЕЗО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Платформы и железо:
установленная база и эксклюзивы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x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nintendo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Консоли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Закрытые экосистемы со своими правилами и сертификацией. Конкурируют за игроков с устройством и за эксклюзивы.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010" y="2404872"/>
            <a:ext cx="566928" cy="566928"/>
          </a:xfrm>
          <a:prstGeom prst="rect">
            <a:avLst/>
          </a:prstGeom>
        </p:spPr>
      </p:pic>
      <p:pic>
        <p:nvPicPr>
          <p:cNvPr id="14" name="Picture 13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0530" y="2404872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Мобайл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Самая большая аудитория — и свои ворота у каждой системы.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gate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PC — открытая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Windows, Mac, Linux. Вышел на Windows и не вышел на Mac — потерял пару процентов. Платформы — данность: под них делают.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провал запуска случился на PS4 и Xbox One — платформа определила судьбу релиза и снятие с PS Store.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ВИТРИНЫ И ДИСТРИБУЦИЯ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Витрины и дистрибуция:
аккаунт и библиотека игрока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play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x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pic>
        <p:nvPicPr>
          <p:cNvPr id="10" name="Picture 9" descr="appst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404872"/>
            <a:ext cx="566928" cy="566928"/>
          </a:xfrm>
          <a:prstGeom prst="rect">
            <a:avLst/>
          </a:prstGeom>
        </p:spPr>
      </p:pic>
      <p:pic>
        <p:nvPicPr>
          <p:cNvPr id="11" name="Picture 10" descr="googlepl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6472" y="2404872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витрина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Платформа, которая владеет аккаунтом игрока: библиотекой, платежами, рекомендациями. Steam, PlayStation Store, Xbox, eShop, App Store, Google Play.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i_key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 витрины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аккаунт с библиотекой — он создаёт издержки переключения. За эксклюзивы: CS, Dota, Half-Life только в Steam. За каталог разработчиков — комиссией 30% против 12%.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D95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i_gate_F26A1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Почему горлышко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E2A1C"/>
                </a:solidFill>
                <a:latin typeface="Onest"/>
              </a:rPr>
              <a:t>Готовая игра не доходит до игрока иначе как через одну из немногих таких платформ, и каждая контролирует свою экосистему. Внимание и привычка — следствие, а не объект.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35040"/>
            <a:ext cx="110029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снята с PlayStation Store 18.12.2020 с полным возвратом денег, вернулась 21.06.2021.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ЦЕПОЧКА УДЕРЖАНИЯ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Как время игрока превращается
в издержки переключения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
на платформе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ресурс, не объект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78837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61717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6309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Покупки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6309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витрина берёт комиссию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6194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9074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3666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Библиотека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3666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не переносится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13551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6431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Друзья, достижения,
отзывы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живут только здесь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80908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63788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8380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Издержки
переключения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380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уйти = бросить всё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48266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31146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738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LTV игрока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5738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E2A1C"/>
                </a:solidFill>
                <a:latin typeface="Onest"/>
              </a:rPr>
              <a:t>деньги дальше по цепочке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1002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Отзывы в Steam — артефакт доверия, которого нет у Epic в таком виде: чем больше игроков, тем качественнее отзывы, тем выше готовность покупать и рисковать. Достижения не переносятся, друзья для онлайна — только через платформу. Всё это и есть удержание.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Правило: время — ресурс, который конвертируется в удержание. Объектом мы называем то, что накапливается и удерживается, — библиотеку и аккаунт.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0325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0325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ЗАВИСИМОСТЬ РАЗРАБОТЧИКА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нужно разработчику,
чтобы игра появилась на витрине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Сертификация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техтребования каждой платформы; блокер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1531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4411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4411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Комиссия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4411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Steam 30% · Epic 12%
App Store, Google Play 30% (15% малому бизнесу)
консоли ≈30%, условия под NDA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8702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1582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1582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Отдельный билд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под каждую платформу; порт — отдельный бюджет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5873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88753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753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Возрастной рейтинг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753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ESRB, PEGI, USK; без него — не на консоль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3044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5924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5924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Правила контента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5924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модерация витрины; отказ = нет релиза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492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Каждый шаг — отдельные ворота со своей ценой, и условия диктует витрина. Быть на всех витринах дорого — и это работает на тезис о горлышке.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943600"/>
            <a:ext cx="110029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Роялти Unreal — 5% после $1 млн, но 0% при продаже в Epic Games Store: витрина Epic субсидируется движком Epic.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ЭТАЖ 08 · ИЗМЕРИМОСТЬ ОБЪЕКТА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Если объект нельзя измерить —
мы его не называем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147 млн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ежемесячных активных игроков Steam,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42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рекордный одновременный онлайн Steam, март 2026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79138" y="2514600"/>
            <a:ext cx="0" cy="1508760"/>
          </a:xfrm>
          <a:prstGeom prst="line">
            <a:avLst/>
          </a:prstGeom>
          <a:ln>
            <a:solidFill>
              <a:srgbClr val="3A37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929676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295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9676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аккаунтов в Epic Games Store при 8–10% доли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6796" y="2514600"/>
            <a:ext cx="0" cy="1508760"/>
          </a:xfrm>
          <a:prstGeom prst="line">
            <a:avLst/>
          </a:prstGeom>
          <a:ln>
            <a:solidFill>
              <a:srgbClr val="3A37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4434840"/>
            <a:ext cx="5410047" cy="1508760"/>
          </a:xfrm>
          <a:prstGeom prst="roundRect">
            <a:avLst>
              <a:gd name="adj" fmla="val 8484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61772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измеряем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029200"/>
            <a:ext cx="489798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MAU и одновременный онлайн — размер аккаунтной базы; размер библиотек и вишлистов — накопленное удержание; число и объём отзывов — доверие.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4434840"/>
            <a:ext cx="5410047" cy="1508760"/>
          </a:xfrm>
          <a:prstGeom prst="roundRect">
            <a:avLst>
              <a:gd name="adj" fmla="val 8484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461772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Чего пока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5029200"/>
            <a:ext cx="489798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Публичного размера библиотек и вишлистов по платформам. Пока не измерили — не заявляем как объект; это открытая задача.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КТО СТОИТ НА НЕСКОЛЬКИХ ЭТАЖАХ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Позиция на одном этаже —
рычаг на другом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Valve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856" y="2944368"/>
            <a:ext cx="768096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2688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2009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905" y="2944368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21737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1737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Half-Life, CS, Dota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1058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955" y="2944368"/>
            <a:ext cx="768096" cy="7680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10786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0786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Steam — 75% PC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747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Epic Games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38747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nreal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644" y="2944368"/>
            <a:ext cx="768096" cy="7680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8475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8475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Unreal — 42% студий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693" y="2944368"/>
            <a:ext cx="768096" cy="7680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3752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752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Fortnite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684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8742" y="2944368"/>
            <a:ext cx="768096" cy="7680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2657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657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EGS — 8–10%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937760"/>
            <a:ext cx="11002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Доля витрины у Epic — 8–10%, но 42% студий делают игры на его движке. Сила на этаже 03 финансирует борьбу на этаже 08: эксклюзивы, бесплатные раздачи, комиссия 12%, 0% роялти в своём магазине. Valorant сделан Riot на Unreal — Epic получает роялти с чужого хита. Доля на одном этаже — не мера силы компании.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Гипотеза Владимира к проверке: ценность магазина для Epic — не выручка, а доверие игроков и разработчиков к экосистеме Unreal.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ПРОВЕРКА · ОБЪЕКТЫ РАЗЛИЧАЮТСЯ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Объекты соседних этажей
не совпадают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11002975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8716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03 · ДВИЖКИ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выбор студий: раз выбрали — живут годами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48716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5927" y="278892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контракты: торгуются заново на каждом проекте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4407" y="2286000"/>
            <a:ext cx="7315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593591"/>
            <a:ext cx="11002975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94759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96511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какую игру выберет игрок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794759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4096511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права на издание и релиз — не про игрока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4407" y="3593591"/>
            <a:ext cx="7315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901183"/>
            <a:ext cx="11002975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102351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404103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установленная база: у кого есть устройство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5102351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08 · ВИТРИНА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27" y="5404103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аккаунт и библиотека: где игрок живёт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4407" y="4901183"/>
            <a:ext cx="73152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БУТЫЛОЧНОЕ
ГОРЛЫШКО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Ищем его тестом отказом, а не по деньгам на этаже.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 · БУТЫЛОЧНОЕ ГОРЛЫШКО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Уровень, где мало игроков,
а зависят от них все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15768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Мало игроков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Считаем тех, к кому реально можно пойти. Сотня студий — много, несколько витрин —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76472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023359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Нет альтернативы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43400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Можно заменить — больно, дорого, но можно — это не горлышко.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01183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084064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5A3416"/>
                </a:solidFill>
                <a:latin typeface="Onest"/>
              </a:rPr>
              <a:t>ЧТО УДЕРЖИВАЕТ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330951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650992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Не деньги, а то, что деньгами не покупается: сетевой эффект, библиотека, привычка.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86000"/>
            <a:ext cx="4007815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5146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6B6558"/>
                </a:solidFill>
                <a:latin typeface="Onest"/>
              </a:rPr>
              <a:t>ЭТАЖИ 01–07</a:t>
            </a:r>
          </a:p>
        </p:txBody>
      </p:sp>
      <p:sp>
        <p:nvSpPr>
          <p:cNvPr id="20" name="Trapezoid 19"/>
          <p:cNvSpPr/>
          <p:nvPr/>
        </p:nvSpPr>
        <p:spPr>
          <a:xfrm rot="10800000">
            <a:off x="8046720" y="2834640"/>
            <a:ext cx="3093415" cy="1920240"/>
          </a:xfrm>
          <a:prstGeom prst="trapezoid">
            <a:avLst>
              <a:gd name="adj" fmla="val 42000"/>
            </a:avLst>
          </a:prstGeom>
          <a:solidFill>
            <a:srgbClr val="E7E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232324" y="3108960"/>
            <a:ext cx="272220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7929" y="3383280"/>
            <a:ext cx="235099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03534" y="3657600"/>
            <a:ext cx="197978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89139" y="3931920"/>
            <a:ext cx="160857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74744" y="4206240"/>
            <a:ext cx="123736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60349" y="4480560"/>
            <a:ext cx="86615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00234" y="4754880"/>
            <a:ext cx="586386" cy="64008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234" y="4773168"/>
            <a:ext cx="586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0234" y="5102352"/>
            <a:ext cx="5863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700" b="1">
                <a:solidFill>
                  <a:srgbClr val="3E2A1C"/>
                </a:solidFill>
                <a:latin typeface="Onest"/>
              </a:rPr>
              <a:t>ВИТРИНА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483699" y="5440680"/>
            <a:ext cx="219456" cy="365760"/>
          </a:xfrm>
          <a:prstGeom prst="down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580644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16140F"/>
                </a:solidFill>
                <a:latin typeface="Onest"/>
              </a:rPr>
              <a:t>ИГРОК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ЦЕПОЧКА ЗАВИСИМОСТЕЙ · ТЕСТ ОТКАЗОМ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Тест отказом
по четырём уровням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движок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Берёшь другой. Valve ушла с Quake и собрала GoldSrc; CD Projekt уходит с REDengine на Unreal.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подрядчик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Меняешь. Рынок аутсорса — около $9 млрд и сотни студий.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издатель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Ищешь другого или идёшь без него. Игрок этого даже не заметит.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Есть, но дорогая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1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6A1B"/>
                </a:solidFill>
                <a:latin typeface="Onest"/>
              </a:rPr>
              <a:t>Откажет витрина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351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C9C4B8"/>
                </a:solidFill>
                <a:latin typeface="Onest"/>
              </a:rPr>
              <a:t>Игры не существует. Игрок физически не может её найти и купить.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2351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Альтернативы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Три уровня из четырёх заменяемы. Жёсткая зависимость ровно одна.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ГОРЛЫШКО · 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Горлышко — </a:t>
            </a:r>
            <a:r>
              <a:rPr sz="3600" b="1">
                <a:solidFill>
                  <a:srgbClr val="F26A1B"/>
                </a:solidFill>
                <a:latin typeface="Onest"/>
              </a:rPr>
              <a:t>уровень витрин</a:t>
            </a:r>
            <a:r>
              <a:rPr sz="3600" b="1">
                <a:solidFill>
                  <a:srgbClr val="F1ECE3"/>
                </a:solidFill>
                <a:latin typeface="Onest"/>
              </a:rPr>
              <a:t>,
а не отдельная компания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выручки PC-дистрибуции у Steam — это лишь PC-проекция горлышка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2–3%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GOG — третьей витрины PC. Всё, что не Steam и не Epic, — крошки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9676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8–10%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9676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Epic, который раздаёт игры бесплатно не первый год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мешает войти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Купленная библиотека не переносится. Уйти — значит бросить всё, за что заплачено.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Контраргумент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Steam — только PC. Поэтому горлышко не компания, а уровень: в каждой экосистеме своя витрина.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ГОРЛЫШКО · ПРОВЕРЕННЫЕ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случая отключения
игры витриной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6 МЕСЯЦЕВ ВНЕ PS STORE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02666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Sony убрала игру 18.12.2020 и вернула деньги всем. Вернулась 21.06.2021. Акции CD Projekt — минус 20% за день.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ПОЧТИ 5 ЛЕТ ВНЕ APP STORE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302666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Fortnite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Apple удалила игру в августе 2020-го. Вернулась в американский App Store в мае 2025-го. Пять лет игры не существовало для iOS.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ТОЛЬКО VK PLAY В РФ И СНГ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302666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Atomic Heart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релизе 21.02.2023 страница в Steam была недоступна в регионе. В российском Steam — только в августе 2026-го.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Игра была готова и куплена. Отказал только уровень витрины — и этого хватило.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13969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СКРЫТЫЕ ГОРЛЫШКИ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Скрытые горлышки:
сертификация, издатель, мощности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Сертификация
и возрастной рейтинг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Не прошёл ESRB или PEGI — на консоль не вышел. Обойти нельзя.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Нет издателя —
нет игры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Команда сильная, права есть, а издателя нет. Для инди горлышко — шестой этаж, а не восьмой.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lock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Мощности подрядчиков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15137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Cyberpunk сорвал не аутсорс, а скоуп и старые консоли. Но конвейер студий — признак нехватки.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Горлышко ищется не по выручке этажа, а по отсутствию альтернативы у тех, кто зависит.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ОТКРЫТЫЙ ВОПРОС · ВЫНОСИМ В ЗАЛ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25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Открытый вопрос:
где проходит граница рынка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530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3133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133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Горлышко — Steam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133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75% выручки, альтернатив практически 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617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ГЕЙМИНГ ЦЕЛИКОМ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7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Горлышек несколько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617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По одному на экосистему — и каждое монополист в своей.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ИСТОЧНИКИ ВСЕХ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Откуда взяты числа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83080"/>
          <a:ext cx="110029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011680"/>
                <a:gridCol w="29562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ЧИСЛО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ГДЕ В ДЕКЕ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ИСТОЧНИК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Unreal 42%, Unity 30% — основной движок студий (опрос GDC 2026); Godot 8–10% релизов Steam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2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74–75% PC-дистрибуции; Epic 8–10%; GOG 2–3%; 147 млн MAU; пик 42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08, горлышко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3"/>
                        </a:rPr>
                        <a:t>levvvel.com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Комиссии: Steam 30%, Epic 12%; с 06.2025 у Epic 0% на первый $1 млн в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4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Epic Games Store: 295 млн аккаунтов, $1,09 млрд трат за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измеримость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5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Роялти Unreal 5% после $1 млн; 0% при продаже в Epic Games Store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рычаг Epic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6"/>
                        </a:rPr>
                        <a:t>unrealengine.com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App Store 30%, 15% для малого бизнеса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7"/>
                        </a:rPr>
                        <a:t>developer.apple.com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Google Play 30%, 15% на первый $1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8"/>
                        </a:rPr>
                        <a:t>support.google.com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CD Projekt: переход с REDengine на Unreal Engine 5, март 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03, 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9"/>
                        </a:rPr>
                        <a:t>cdprojekt.com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Аутсорс ≈ $9 млрд, 2025 (другие отчёты: $4–9 млрд)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0"/>
                        </a:rPr>
                        <a:t>verifiedmarketreports.com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Sony купила Insomniac за $229 млн, август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1"/>
                        </a:rPr>
                        <a:t>gameworldobserver.com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Tencent: 93% Riot в 2011, 100% к концу 2015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2"/>
                        </a:rPr>
                        <a:t>techcrunch.com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Cyberpunk вне PS Store 18.12.2020 — 21.06.2021; акции CD Projekt −20%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3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Fortnite вне App Store: август 2020 — май 2025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4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Atomic Heart только в VK Play с 21.02.2023; в Steam РФ — 08.2026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5"/>
                        </a:rPr>
                        <a:t>habr.com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Super Mario Bros. — 1985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6"/>
                        </a:rPr>
                        <a:t>nintendo.com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5508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Консольные комиссии (≈30%) платформы публично не раскрывают — указаны как оценка, без ссылки.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0345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0345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ПОНЯТИЯ ТАКТА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Понятия, которыми пользовались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Конкуренция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Борьба за то, чего на всех не хватает. Всегда за что-то конкретное.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3319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3319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Что мешает новому игроку занять уровень. Чем выше — тем дольше держится горлышко.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То, обладание которым даёт преимущество. На каждом этаже свой. Если нельзя измерить — не называем.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Зависимость в цепочке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Насколько жёстко уровень нуждается в соседнем. Меряется отказом.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Бутылочное горлышко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Уровень, где мало игроков, а зависят от них все.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Место, где есть свой объект конкуренции. Не шаг процесса.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