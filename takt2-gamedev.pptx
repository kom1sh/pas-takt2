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Relationship Id="rId10" Type="http://schemas.openxmlformats.org/officeDocument/2006/relationships/image" Target="../media/image14.png"/><Relationship Id="rId11" Type="http://schemas.openxmlformats.org/officeDocument/2006/relationships/image" Target="../media/image15.png"/><Relationship Id="rId12" Type="http://schemas.openxmlformats.org/officeDocument/2006/relationships/image" Target="../media/image16.png"/><Relationship Id="rId13" Type="http://schemas.openxmlformats.org/officeDocument/2006/relationships/image" Target="../media/image17.png"/><Relationship Id="rId14" Type="http://schemas.openxmlformats.org/officeDocument/2006/relationships/image" Target="../media/image18.png"/><Relationship Id="rId15" Type="http://schemas.openxmlformats.org/officeDocument/2006/relationships/image" Target="../media/image19.png"/><Relationship Id="rId16" Type="http://schemas.openxmlformats.org/officeDocument/2006/relationships/image" Target="../media/image20.png"/><Relationship Id="rId17" Type="http://schemas.openxmlformats.org/officeDocument/2006/relationships/image" Target="../media/image21.png"/><Relationship Id="rId18" Type="http://schemas.openxmlformats.org/officeDocument/2006/relationships/image" Target="../media/image22.png"/><Relationship Id="rId19" Type="http://schemas.openxmlformats.org/officeDocument/2006/relationships/image" Target="../media/image23.png"/><Relationship Id="rId20" Type="http://schemas.openxmlformats.org/officeDocument/2006/relationships/image" Target="../media/image24.png"/><Relationship Id="rId21" Type="http://schemas.openxmlformats.org/officeDocument/2006/relationships/image" Target="../media/image25.png"/><Relationship Id="rId22" Type="http://schemas.openxmlformats.org/officeDocument/2006/relationships/image" Target="../media/image26.png"/><Relationship Id="rId23" Type="http://schemas.openxmlformats.org/officeDocument/2006/relationships/image" Target="../media/image27.png"/><Relationship Id="rId24" Type="http://schemas.openxmlformats.org/officeDocument/2006/relationships/image" Target="../media/image28.png"/><Relationship Id="rId25" Type="http://schemas.openxmlformats.org/officeDocument/2006/relationships/image" Target="../media/image29.png"/><Relationship Id="rId26" Type="http://schemas.openxmlformats.org/officeDocument/2006/relationships/image" Target="../media/image30.png"/><Relationship Id="rId27" Type="http://schemas.openxmlformats.org/officeDocument/2006/relationships/image" Target="../media/image31.png"/><Relationship Id="rId28" Type="http://schemas.openxmlformats.org/officeDocument/2006/relationships/image" Target="../media/image32.png"/><Relationship Id="rId29" Type="http://schemas.openxmlformats.org/officeDocument/2006/relationships/image" Target="../media/image33.png"/><Relationship Id="rId30" Type="http://schemas.openxmlformats.org/officeDocument/2006/relationships/image" Target="../media/image3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5.png"/><Relationship Id="rId4" Type="http://schemas.openxmlformats.org/officeDocument/2006/relationships/image" Target="../media/image3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3.png"/><Relationship Id="rId4" Type="http://schemas.openxmlformats.org/officeDocument/2006/relationships/image" Target="../media/image12.png"/><Relationship Id="rId5" Type="http://schemas.openxmlformats.org/officeDocument/2006/relationships/image" Target="../media/image11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7.png"/><Relationship Id="rId4" Type="http://schemas.openxmlformats.org/officeDocument/2006/relationships/image" Target="../media/image16.png"/><Relationship Id="rId5" Type="http://schemas.openxmlformats.org/officeDocument/2006/relationships/image" Target="../media/image15.png"/><Relationship Id="rId6" Type="http://schemas.openxmlformats.org/officeDocument/2006/relationships/image" Target="../media/image5.png"/><Relationship Id="rId7" Type="http://schemas.openxmlformats.org/officeDocument/2006/relationships/image" Target="../media/image3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9.png"/><Relationship Id="rId4" Type="http://schemas.openxmlformats.org/officeDocument/2006/relationships/image" Target="../media/image19.png"/><Relationship Id="rId5" Type="http://schemas.openxmlformats.org/officeDocument/2006/relationships/image" Target="../media/image10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2.png"/><Relationship Id="rId4" Type="http://schemas.openxmlformats.org/officeDocument/2006/relationships/image" Target="../media/image21.png"/><Relationship Id="rId5" Type="http://schemas.openxmlformats.org/officeDocument/2006/relationships/image" Target="../media/image20.png"/><Relationship Id="rId6" Type="http://schemas.openxmlformats.org/officeDocument/2006/relationships/image" Target="../media/image42.png"/><Relationship Id="rId7" Type="http://schemas.openxmlformats.org/officeDocument/2006/relationships/image" Target="../media/image4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25.png"/><Relationship Id="rId6" Type="http://schemas.openxmlformats.org/officeDocument/2006/relationships/image" Target="../media/image24.png"/><Relationship Id="rId7" Type="http://schemas.openxmlformats.org/officeDocument/2006/relationships/image" Target="../media/image4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28.png"/><Relationship Id="rId4" Type="http://schemas.openxmlformats.org/officeDocument/2006/relationships/image" Target="../media/image45.png"/><Relationship Id="rId5" Type="http://schemas.openxmlformats.org/officeDocument/2006/relationships/image" Target="../media/image36.png"/><Relationship Id="rId6" Type="http://schemas.openxmlformats.org/officeDocument/2006/relationships/image" Target="../media/image4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41.png"/><Relationship Id="rId5" Type="http://schemas.openxmlformats.org/officeDocument/2006/relationships/image" Target="../media/image35.png"/><Relationship Id="rId6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44.png"/><Relationship Id="rId4" Type="http://schemas.openxmlformats.org/officeDocument/2006/relationships/image" Target="../media/image14.png"/><Relationship Id="rId5" Type="http://schemas.openxmlformats.org/officeDocument/2006/relationships/image" Target="../media/image4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5.png"/><Relationship Id="rId4" Type="http://schemas.openxmlformats.org/officeDocument/2006/relationships/image" Target="../media/image5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2.png"/><Relationship Id="rId4" Type="http://schemas.openxmlformats.org/officeDocument/2006/relationships/image" Target="../media/image3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hattered.io/unreal-engine-6-unity-market-share-2026" TargetMode="External"/><Relationship Id="rId3" Type="http://schemas.openxmlformats.org/officeDocument/2006/relationships/hyperlink" Target="https://levvvel.com/statistics/pc-gaming" TargetMode="External"/><Relationship Id="rId4" Type="http://schemas.openxmlformats.org/officeDocument/2006/relationships/hyperlink" Target="https://shattered.io/steam-vs-epic-games-store/" TargetMode="External"/><Relationship Id="rId5" Type="http://schemas.openxmlformats.org/officeDocument/2006/relationships/hyperlink" Target="https://shattered.io/epic-games-store-revenue-2026/" TargetMode="External"/><Relationship Id="rId6" Type="http://schemas.openxmlformats.org/officeDocument/2006/relationships/hyperlink" Target="https://www.unrealengine.com/license" TargetMode="External"/><Relationship Id="rId7" Type="http://schemas.openxmlformats.org/officeDocument/2006/relationships/hyperlink" Target="https://developer.apple.com/app-store/small-business-program/" TargetMode="External"/><Relationship Id="rId8" Type="http://schemas.openxmlformats.org/officeDocument/2006/relationships/hyperlink" Target="https://support.google.com/googleplay/android-developer/answer/112622" TargetMode="External"/><Relationship Id="rId9" Type="http://schemas.openxmlformats.org/officeDocument/2006/relationships/hyperlink" Target="https://partner.steamgames.com/doc/gettingstarted/contentsurvey" TargetMode="External"/><Relationship Id="rId10" Type="http://schemas.openxmlformats.org/officeDocument/2006/relationships/hyperlink" Target="https://www.cdprojekt.com/en/media/news/new-witcher-saga-announced-cd-projekt-red-begins-development-on-unreal-engine-5-as-part-of-a-strategic-partnership-with-epic-games/" TargetMode="External"/><Relationship Id="rId11" Type="http://schemas.openxmlformats.org/officeDocument/2006/relationships/hyperlink" Target="https://gameworldobserver.com/2020/02/11/sony-paid-229m-insomniac-games" TargetMode="External"/><Relationship Id="rId12" Type="http://schemas.openxmlformats.org/officeDocument/2006/relationships/hyperlink" Target="https://techcrunch.com/2015/12/16/tencent-takes-full-control-of-league-of-legends-creator-riot-games/" TargetMode="External"/><Relationship Id="rId13" Type="http://schemas.openxmlformats.org/officeDocument/2006/relationships/hyperlink" Target="https://www.cnbc.com/2020/12/18/sony-pulls-cyberpunk-2077-from-playstation-store-after-backlash.html" TargetMode="External"/><Relationship Id="rId14" Type="http://schemas.openxmlformats.org/officeDocument/2006/relationships/hyperlink" Target="https://www.cnbc.com/2025/05/20/apple-fortnite-app-store-epic-games.html" TargetMode="External"/><Relationship Id="rId15" Type="http://schemas.openxmlformats.org/officeDocument/2006/relationships/hyperlink" Target="https://habr.com/ru/news/687214/" TargetMode="External"/><Relationship Id="rId16" Type="http://schemas.openxmlformats.org/officeDocument/2006/relationships/hyperlink" Target="https://www.nintendo.com/us/store/products/super-mario-bros-nes-nintendo-switch-online/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6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506724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8A4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50672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ПАС · ИТ-1 · 3 КУРС · 2026/27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8A4A28"/>
                </a:solidFill>
                <a:latin typeface="Onest"/>
              </a:rPr>
              <a:t>01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920240"/>
            <a:ext cx="82296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16140F"/>
                </a:solidFill>
                <a:latin typeface="Onest"/>
              </a:rPr>
              <a:t>ГЕЙМДЕВ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703320"/>
            <a:ext cx="7315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>
                <a:solidFill>
                  <a:srgbClr val="16140F"/>
                </a:solidFill>
                <a:latin typeface="Onest"/>
              </a:rPr>
              <a:t>Такт 2. Объекты конкуренции
и бутылочные горлышки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4360" y="5074920"/>
            <a:ext cx="11002975" cy="0"/>
          </a:xfrm>
          <a:prstGeom prst="line">
            <a:avLst/>
          </a:prstGeom>
          <a:ln>
            <a:solidFill>
              <a:srgbClr val="8A4A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94360" y="5257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6140F"/>
                </a:solidFill>
                <a:latin typeface="Onest"/>
              </a:rPr>
              <a:t>Разбираем на Cyberpunk 2077 и CD Projekt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5257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16140F"/>
                </a:solidFill>
                <a:latin typeface="Onest"/>
              </a:rPr>
              <a:t>8 этажей · 1 горлышко · прототип для правок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1613916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61391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ОПРЕДЕЛЕНИЕ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02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Что такое геймдев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240280"/>
            <a:ext cx="6583680" cy="3794760"/>
          </a:xfrm>
          <a:prstGeom prst="roundRect">
            <a:avLst>
              <a:gd name="adj" fmla="val 385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0392" y="2496312"/>
            <a:ext cx="1234440" cy="123444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i_play_F26A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" y="277063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0392" y="4069080"/>
            <a:ext cx="6071616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6140F"/>
                </a:solidFill>
                <a:latin typeface="Onest"/>
              </a:rPr>
              <a:t>Программные интерактивные системы, в которых пользователь </a:t>
            </a:r>
            <a:r>
              <a:rPr sz="1500" b="1">
                <a:solidFill>
                  <a:srgbClr val="16140F"/>
                </a:solidFill>
                <a:latin typeface="Onest"/>
              </a:rPr>
              <a:t>добровольно действует в рамках искусственных правил</a:t>
            </a:r>
            <a:r>
              <a:rPr sz="1500" b="0">
                <a:solidFill>
                  <a:srgbClr val="16140F"/>
                </a:solidFill>
                <a:latin typeface="Onest"/>
              </a:rPr>
              <a:t>, а система непрерывно отвечает на его действия, — с доведением продукта и его поддержки до аудитории </a:t>
            </a:r>
            <a:r>
              <a:rPr sz="1500" b="1">
                <a:solidFill>
                  <a:srgbClr val="16140F"/>
                </a:solidFill>
                <a:latin typeface="Onest"/>
              </a:rPr>
              <a:t>через цифровые площадки дистрибуции</a:t>
            </a:r>
            <a:r>
              <a:rPr sz="1500" b="0">
                <a:solidFill>
                  <a:srgbClr val="16140F"/>
                </a:solidFill>
                <a:latin typeface="Onest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60920" y="2240280"/>
            <a:ext cx="4236415" cy="3794760"/>
          </a:xfrm>
          <a:prstGeom prst="roundRect">
            <a:avLst>
              <a:gd name="adj" fmla="val 3855"/>
            </a:avLst>
          </a:prstGeom>
          <a:solidFill>
            <a:srgbClr val="14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616952" y="2496312"/>
            <a:ext cx="1051560" cy="1051560"/>
          </a:xfrm>
          <a:prstGeom prst="ellipse">
            <a:avLst/>
          </a:prstGeom>
          <a:solidFill>
            <a:srgbClr val="2A2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ui_no_F26A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4696" y="2734056"/>
            <a:ext cx="576071" cy="57607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616952" y="3712464"/>
            <a:ext cx="372435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1ECE3"/>
                </a:solidFill>
                <a:latin typeface="Onest"/>
              </a:rPr>
              <a:t>Не геймдев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16952" y="4151376"/>
            <a:ext cx="3724351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C9C4B8"/>
                </a:solidFill>
                <a:latin typeface="Onest"/>
              </a:rPr>
              <a:t>Веб-дизайн, тренажёры и обучающие симуляторы, классические приложения, розничная продажа игр, настольные игры.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1193292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19329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ПОНЯТИЕ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03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Объект конкуренции — то,
обладание которым даёт преимущество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240280"/>
            <a:ext cx="3545738" cy="3794760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0392" y="2496312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i_key_F26A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2734056"/>
            <a:ext cx="576071" cy="5760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0392" y="3712464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Право, стандарт,
опыт, внимание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462272"/>
            <a:ext cx="3033674" cy="1389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Это можно удерживать. А пока удерживаешь — другим сюда хода нет.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2240280"/>
            <a:ext cx="3545738" cy="3794760"/>
          </a:xfrm>
          <a:prstGeom prst="roundRect">
            <a:avLst>
              <a:gd name="adj" fmla="val 4126"/>
            </a:avLst>
          </a:prstGeom>
          <a:solidFill>
            <a:srgbClr val="DCE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79010" y="2496312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ui_nomoney_F26A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6754" y="2734056"/>
            <a:ext cx="576071" cy="57607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9010" y="3712464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Но не деньги
и не доля рынка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9010" y="4462272"/>
            <a:ext cx="3033674" cy="1389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Это ресурс на входе и следствие на выходе. За них не дерутся — их получают.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1596" y="2240280"/>
            <a:ext cx="3545738" cy="3794760"/>
          </a:xfrm>
          <a:prstGeom prst="roundRect">
            <a:avLst>
              <a:gd name="adj" fmla="val 4126"/>
            </a:avLst>
          </a:prstGeom>
          <a:solidFill>
            <a:srgbClr val="14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07628" y="2496312"/>
            <a:ext cx="1051560" cy="1051560"/>
          </a:xfrm>
          <a:prstGeom prst="ellipse">
            <a:avLst/>
          </a:prstGeom>
          <a:solidFill>
            <a:srgbClr val="2A2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ui_compare_F26A1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5372" y="2734056"/>
            <a:ext cx="576071" cy="57607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07628" y="3712464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1ECE3"/>
                </a:solidFill>
                <a:latin typeface="Onest"/>
              </a:rPr>
              <a:t>Проверка: сравни
с этажом выше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7628" y="4462272"/>
            <a:ext cx="3033674" cy="1389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C9C4B8"/>
                </a:solidFill>
                <a:latin typeface="Onest"/>
              </a:rPr>
              <a:t>Объект тот же — значит, это один уровень, а не два. Если объект нельзя измерить — мы его не называем.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3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1403604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6E6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40360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F1ECE3"/>
                </a:solidFill>
                <a:latin typeface="Onest"/>
              </a:rPr>
              <a:t>РАЗДЕЛ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9A968C"/>
                </a:solidFill>
                <a:latin typeface="Onest"/>
              </a:rPr>
              <a:t>04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56855" y="320040"/>
            <a:ext cx="38404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90000"/>
              </a:lnSpc>
            </a:pPr>
            <a:r>
              <a:rPr sz="15000" b="1">
                <a:solidFill>
                  <a:srgbClr val="F26A1B"/>
                </a:solidFill>
                <a:latin typeface="Ones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108960"/>
            <a:ext cx="8229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6400" b="1">
                <a:solidFill>
                  <a:srgbClr val="F1ECE3"/>
                </a:solidFill>
                <a:latin typeface="Onest"/>
              </a:rPr>
              <a:t>КАРТА
УРОВНЕЙ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1206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B8B3A7"/>
                </a:solidFill>
                <a:latin typeface="Onest"/>
              </a:rPr>
              <a:t>Восемь этажей, на каждом свой объект конкуренции.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2770632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277063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СХЕМА · РАЗМЕТКА КАРТЫ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05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96012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>
                <a:solidFill>
                  <a:srgbClr val="6B6558"/>
                </a:solidFill>
                <a:latin typeface="Onest"/>
              </a:rPr>
              <a:t>УРОВЕНЬ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79" y="96012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>
                <a:solidFill>
                  <a:srgbClr val="6B6558"/>
                </a:solidFill>
                <a:latin typeface="Onest"/>
              </a:rPr>
              <a:t>ОБЪЕКТ КОНКУРЕНЦИИ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05495" y="960120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1">
                <a:solidFill>
                  <a:srgbClr val="6B6558"/>
                </a:solidFill>
                <a:latin typeface="Onest"/>
              </a:rPr>
              <a:t>КТО СТОИТ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252728"/>
            <a:ext cx="11002975" cy="603504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" y="1252728"/>
            <a:ext cx="3657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6B6558"/>
                </a:solidFill>
                <a:latin typeface="Onest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" y="1252728"/>
            <a:ext cx="21945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16140F"/>
                </a:solidFill>
                <a:latin typeface="Onest"/>
              </a:rPr>
              <a:t>Интеллектуальная
собственность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79" y="1252728"/>
            <a:ext cx="4754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B34405"/>
                </a:solidFill>
                <a:latin typeface="Onest"/>
              </a:rPr>
              <a:t>Право на мир и героев</a:t>
            </a:r>
          </a:p>
        </p:txBody>
      </p:sp>
      <p:pic>
        <p:nvPicPr>
          <p:cNvPr id="12" name="Picture 11" descr="cdprojek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8695" y="1371600"/>
            <a:ext cx="365760" cy="365760"/>
          </a:xfrm>
          <a:prstGeom prst="rect">
            <a:avLst/>
          </a:prstGeom>
        </p:spPr>
      </p:pic>
      <p:pic>
        <p:nvPicPr>
          <p:cNvPr id="13" name="Picture 12" descr="seg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6631" y="1371600"/>
            <a:ext cx="365760" cy="365760"/>
          </a:xfrm>
          <a:prstGeom prst="rect">
            <a:avLst/>
          </a:prstGeom>
        </p:spPr>
      </p:pic>
      <p:pic>
        <p:nvPicPr>
          <p:cNvPr id="14" name="Picture 13" descr="ninten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24567" y="1371600"/>
            <a:ext cx="365760" cy="36576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594360" y="1920240"/>
            <a:ext cx="11002975" cy="603504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1920240"/>
            <a:ext cx="3657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6B6558"/>
                </a:solidFill>
                <a:latin typeface="Onest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1288" y="1920240"/>
            <a:ext cx="21945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16140F"/>
                </a:solidFill>
                <a:latin typeface="Onest"/>
              </a:rPr>
              <a:t>Концепт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79" y="1920240"/>
            <a:ext cx="4754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B34405"/>
                </a:solidFill>
                <a:latin typeface="Onest"/>
              </a:rPr>
              <a:t>Проработанность идеи: сеттинг, фишка, механика</a:t>
            </a:r>
          </a:p>
        </p:txBody>
      </p:sp>
      <p:pic>
        <p:nvPicPr>
          <p:cNvPr id="19" name="Picture 18" descr="rockstargam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48695" y="2039112"/>
            <a:ext cx="365760" cy="365760"/>
          </a:xfrm>
          <a:prstGeom prst="rect">
            <a:avLst/>
          </a:prstGeom>
        </p:spPr>
      </p:pic>
      <p:pic>
        <p:nvPicPr>
          <p:cNvPr id="20" name="Picture 19" descr="valv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6631" y="2039112"/>
            <a:ext cx="365760" cy="36576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594360" y="2587752"/>
            <a:ext cx="11002975" cy="603504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2587752"/>
            <a:ext cx="3657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6B6558"/>
                </a:solidFill>
                <a:latin typeface="Onest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61288" y="2587752"/>
            <a:ext cx="21945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16140F"/>
                </a:solidFill>
                <a:latin typeface="Onest"/>
              </a:rPr>
              <a:t>Движки
и инструменты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79" y="2587752"/>
            <a:ext cx="4754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B34405"/>
                </a:solidFill>
                <a:latin typeface="Onest"/>
              </a:rPr>
              <a:t>Производственный стандарт</a:t>
            </a:r>
          </a:p>
        </p:txBody>
      </p:sp>
      <p:pic>
        <p:nvPicPr>
          <p:cNvPr id="25" name="Picture 24" descr="nvid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48695" y="2706624"/>
            <a:ext cx="365760" cy="365760"/>
          </a:xfrm>
          <a:prstGeom prst="rect">
            <a:avLst/>
          </a:prstGeom>
        </p:spPr>
      </p:pic>
      <p:pic>
        <p:nvPicPr>
          <p:cNvPr id="26" name="Picture 25" descr="godotengin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6631" y="2706624"/>
            <a:ext cx="365760" cy="365760"/>
          </a:xfrm>
          <a:prstGeom prst="rect">
            <a:avLst/>
          </a:prstGeom>
        </p:spPr>
      </p:pic>
      <p:pic>
        <p:nvPicPr>
          <p:cNvPr id="27" name="Picture 26" descr="unit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24567" y="2706624"/>
            <a:ext cx="365760" cy="365760"/>
          </a:xfrm>
          <a:prstGeom prst="rect">
            <a:avLst/>
          </a:prstGeom>
        </p:spPr>
      </p:pic>
      <p:pic>
        <p:nvPicPr>
          <p:cNvPr id="28" name="Picture 27" descr="unrealengin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12503" y="2706624"/>
            <a:ext cx="365760" cy="365760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594360" y="3255264"/>
            <a:ext cx="11002975" cy="603504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3255264"/>
            <a:ext cx="3657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6B6558"/>
                </a:solidFill>
                <a:latin typeface="Onest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61288" y="3255264"/>
            <a:ext cx="21945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16140F"/>
                </a:solidFill>
                <a:latin typeface="Onest"/>
              </a:rPr>
              <a:t>Компоненты
и аутсорс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79" y="3255264"/>
            <a:ext cx="4754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B34405"/>
                </a:solidFill>
                <a:latin typeface="Onest"/>
              </a:rPr>
              <a:t>Контракты разработчиков и издателей</a:t>
            </a:r>
          </a:p>
        </p:txBody>
      </p:sp>
      <p:pic>
        <p:nvPicPr>
          <p:cNvPr id="33" name="Picture 32" descr="jali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69872" y="3374136"/>
            <a:ext cx="744582" cy="365760"/>
          </a:xfrm>
          <a:prstGeom prst="rect">
            <a:avLst/>
          </a:prstGeom>
        </p:spPr>
      </p:pic>
      <p:pic>
        <p:nvPicPr>
          <p:cNvPr id="34" name="Picture 33" descr="keyword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654888" y="3445850"/>
            <a:ext cx="868680" cy="222331"/>
          </a:xfrm>
          <a:prstGeom prst="rect">
            <a:avLst/>
          </a:prstGeom>
        </p:spPr>
      </p:pic>
      <p:pic>
        <p:nvPicPr>
          <p:cNvPr id="35" name="Picture 34" descr="room8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67336" y="3374136"/>
            <a:ext cx="841248" cy="365760"/>
          </a:xfrm>
          <a:prstGeom prst="rect">
            <a:avLst/>
          </a:prstGeom>
        </p:spPr>
      </p:pic>
      <p:pic>
        <p:nvPicPr>
          <p:cNvPr id="36" name="Picture 35" descr="virtuo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52352" y="3438942"/>
            <a:ext cx="868680" cy="236146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594360" y="3922776"/>
            <a:ext cx="11002975" cy="603504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0664" y="3922776"/>
            <a:ext cx="3657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6B6558"/>
                </a:solidFill>
                <a:latin typeface="Onest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61288" y="3922776"/>
            <a:ext cx="21945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16140F"/>
                </a:solidFill>
                <a:latin typeface="Onest"/>
              </a:rPr>
              <a:t>Разработка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83279" y="3922776"/>
            <a:ext cx="4754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B34405"/>
                </a:solidFill>
                <a:latin typeface="Onest"/>
              </a:rPr>
              <a:t>Почерк студии и уровень проработки</a:t>
            </a:r>
          </a:p>
        </p:txBody>
      </p:sp>
      <p:pic>
        <p:nvPicPr>
          <p:cNvPr id="41" name="Picture 40" descr="valv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48695" y="4041648"/>
            <a:ext cx="365760" cy="365760"/>
          </a:xfrm>
          <a:prstGeom prst="rect">
            <a:avLst/>
          </a:prstGeom>
        </p:spPr>
      </p:pic>
      <p:pic>
        <p:nvPicPr>
          <p:cNvPr id="42" name="Picture 41" descr="riotgames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536631" y="4041648"/>
            <a:ext cx="365760" cy="365760"/>
          </a:xfrm>
          <a:prstGeom prst="rect">
            <a:avLst/>
          </a:prstGeom>
        </p:spPr>
      </p:pic>
      <p:pic>
        <p:nvPicPr>
          <p:cNvPr id="43" name="Picture 42" descr="rockstargam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4567" y="4041648"/>
            <a:ext cx="365760" cy="365760"/>
          </a:xfrm>
          <a:prstGeom prst="rect">
            <a:avLst/>
          </a:prstGeom>
        </p:spPr>
      </p:pic>
      <p:pic>
        <p:nvPicPr>
          <p:cNvPr id="44" name="Picture 43" descr="cdprojek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2503" y="4041648"/>
            <a:ext cx="365760" cy="365760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594360" y="4590288"/>
            <a:ext cx="11002975" cy="603504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0664" y="4590288"/>
            <a:ext cx="3657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6B6558"/>
                </a:solidFill>
                <a:latin typeface="Onest"/>
              </a:rPr>
              <a:t>06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61288" y="4590288"/>
            <a:ext cx="21945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16140F"/>
                </a:solidFill>
                <a:latin typeface="Onest"/>
              </a:rPr>
              <a:t>Издание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83279" y="4590288"/>
            <a:ext cx="4754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B34405"/>
                </a:solidFill>
                <a:latin typeface="Onest"/>
              </a:rPr>
              <a:t>Права на релиз и продвижение</a:t>
            </a:r>
          </a:p>
        </p:txBody>
      </p:sp>
      <p:pic>
        <p:nvPicPr>
          <p:cNvPr id="49" name="Picture 48" descr="squareenix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048695" y="4709159"/>
            <a:ext cx="365760" cy="365760"/>
          </a:xfrm>
          <a:prstGeom prst="rect">
            <a:avLst/>
          </a:prstGeom>
        </p:spPr>
      </p:pic>
      <p:pic>
        <p:nvPicPr>
          <p:cNvPr id="50" name="Picture 49" descr="e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536631" y="4709159"/>
            <a:ext cx="365760" cy="365760"/>
          </a:xfrm>
          <a:prstGeom prst="rect">
            <a:avLst/>
          </a:prstGeom>
        </p:spPr>
      </p:pic>
      <p:pic>
        <p:nvPicPr>
          <p:cNvPr id="51" name="Picture 50" descr="ubisoft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024567" y="4709159"/>
            <a:ext cx="365760" cy="365760"/>
          </a:xfrm>
          <a:prstGeom prst="rect">
            <a:avLst/>
          </a:prstGeom>
        </p:spPr>
      </p:pic>
      <p:pic>
        <p:nvPicPr>
          <p:cNvPr id="52" name="Picture 51" descr="sony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512503" y="4709159"/>
            <a:ext cx="365760" cy="365760"/>
          </a:xfrm>
          <a:prstGeom prst="rect">
            <a:avLst/>
          </a:prstGeom>
        </p:spPr>
      </p:pic>
      <p:sp>
        <p:nvSpPr>
          <p:cNvPr id="53" name="Rounded Rectangle 52"/>
          <p:cNvSpPr/>
          <p:nvPr/>
        </p:nvSpPr>
        <p:spPr>
          <a:xfrm>
            <a:off x="594360" y="5257800"/>
            <a:ext cx="11002975" cy="603504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0664" y="5257800"/>
            <a:ext cx="3657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6B6558"/>
                </a:solidFill>
                <a:latin typeface="Onest"/>
              </a:rPr>
              <a:t>07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61288" y="5257800"/>
            <a:ext cx="21945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16140F"/>
                </a:solidFill>
                <a:latin typeface="Onest"/>
              </a:rPr>
              <a:t>Игровые
платформы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83279" y="5257800"/>
            <a:ext cx="4754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B34405"/>
                </a:solidFill>
                <a:latin typeface="Onest"/>
              </a:rPr>
              <a:t>Установленная база и эксклюзивы</a:t>
            </a:r>
          </a:p>
        </p:txBody>
      </p:sp>
      <p:pic>
        <p:nvPicPr>
          <p:cNvPr id="57" name="Picture 56" descr="androi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048695" y="5376672"/>
            <a:ext cx="365760" cy="365760"/>
          </a:xfrm>
          <a:prstGeom prst="rect">
            <a:avLst/>
          </a:prstGeom>
        </p:spPr>
      </p:pic>
      <p:pic>
        <p:nvPicPr>
          <p:cNvPr id="58" name="Picture 57" descr="appl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536631" y="5376672"/>
            <a:ext cx="365760" cy="365760"/>
          </a:xfrm>
          <a:prstGeom prst="rect">
            <a:avLst/>
          </a:prstGeom>
        </p:spPr>
      </p:pic>
      <p:pic>
        <p:nvPicPr>
          <p:cNvPr id="59" name="Picture 58" descr="nintendoswitch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024567" y="5376672"/>
            <a:ext cx="365760" cy="365760"/>
          </a:xfrm>
          <a:prstGeom prst="rect">
            <a:avLst/>
          </a:prstGeom>
        </p:spPr>
      </p:pic>
      <p:pic>
        <p:nvPicPr>
          <p:cNvPr id="60" name="Picture 59" descr="xbox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512503" y="5376672"/>
            <a:ext cx="365760" cy="365760"/>
          </a:xfrm>
          <a:prstGeom prst="rect">
            <a:avLst/>
          </a:prstGeom>
        </p:spPr>
      </p:pic>
      <p:pic>
        <p:nvPicPr>
          <p:cNvPr id="61" name="Picture 60" descr="playstation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000439" y="5376672"/>
            <a:ext cx="365760" cy="365760"/>
          </a:xfrm>
          <a:prstGeom prst="rect">
            <a:avLst/>
          </a:prstGeom>
        </p:spPr>
      </p:pic>
      <p:sp>
        <p:nvSpPr>
          <p:cNvPr id="62" name="Rounded Rectangle 61"/>
          <p:cNvSpPr/>
          <p:nvPr/>
        </p:nvSpPr>
        <p:spPr>
          <a:xfrm>
            <a:off x="594360" y="5925312"/>
            <a:ext cx="11002975" cy="603504"/>
          </a:xfrm>
          <a:prstGeom prst="roundRect">
            <a:avLst>
              <a:gd name="adj" fmla="val 18181"/>
            </a:avLst>
          </a:prstGeom>
          <a:solidFill>
            <a:srgbClr val="14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664" y="5925312"/>
            <a:ext cx="3657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6A1B"/>
                </a:solidFill>
                <a:latin typeface="Onest"/>
              </a:rPr>
              <a:t>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61288" y="5925312"/>
            <a:ext cx="21945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F26A1B"/>
                </a:solidFill>
                <a:latin typeface="Onest"/>
              </a:rPr>
              <a:t>Витрины
и дистрибуция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5925312"/>
            <a:ext cx="4754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FF9A52"/>
                </a:solidFill>
                <a:latin typeface="Onest"/>
              </a:rPr>
              <a:t>Время игрока и его LTV</a:t>
            </a:r>
          </a:p>
        </p:txBody>
      </p:sp>
      <p:pic>
        <p:nvPicPr>
          <p:cNvPr id="66" name="Picture 65" descr="googleplay_paper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1048695" y="6044184"/>
            <a:ext cx="365760" cy="365760"/>
          </a:xfrm>
          <a:prstGeom prst="rect">
            <a:avLst/>
          </a:prstGeom>
        </p:spPr>
      </p:pic>
      <p:pic>
        <p:nvPicPr>
          <p:cNvPr id="67" name="Picture 66" descr="appstore_paper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536631" y="6044184"/>
            <a:ext cx="365760" cy="365760"/>
          </a:xfrm>
          <a:prstGeom prst="rect">
            <a:avLst/>
          </a:prstGeom>
        </p:spPr>
      </p:pic>
      <p:pic>
        <p:nvPicPr>
          <p:cNvPr id="68" name="Picture 67" descr="nintendoswitch_paper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024567" y="6044184"/>
            <a:ext cx="365760" cy="365760"/>
          </a:xfrm>
          <a:prstGeom prst="rect">
            <a:avLst/>
          </a:prstGeom>
        </p:spPr>
      </p:pic>
      <p:pic>
        <p:nvPicPr>
          <p:cNvPr id="69" name="Picture 68" descr="xbox_paper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512503" y="6044184"/>
            <a:ext cx="365760" cy="365760"/>
          </a:xfrm>
          <a:prstGeom prst="rect">
            <a:avLst/>
          </a:prstGeom>
        </p:spPr>
      </p:pic>
      <p:pic>
        <p:nvPicPr>
          <p:cNvPr id="70" name="Picture 69" descr="playstation_paper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9000439" y="6044184"/>
            <a:ext cx="365760" cy="365760"/>
          </a:xfrm>
          <a:prstGeom prst="rect">
            <a:avLst/>
          </a:prstGeom>
        </p:spPr>
      </p:pic>
      <p:pic>
        <p:nvPicPr>
          <p:cNvPr id="71" name="Picture 70" descr="steam_paper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488375" y="6044184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4663440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46634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ЭТАЖ 01 · ИНТЕЛЛЕКТУАЛЬНАЯ СОБСТВЕННОСТЬ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06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Интеллектуальная собственность:
право на мир и героев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ninte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404872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0392" y="3136392"/>
            <a:ext cx="3033674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Если ты не Nintendo —
не сделаешь Mario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4197096"/>
            <a:ext cx="3033674" cy="15179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Право исключительное: у одного есть, у остальных нет. Mario 1985 года всё ещё закрывает этаж.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2978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79010" y="2404872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ui_key_F26A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6754" y="2642615"/>
            <a:ext cx="576071" cy="57607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9010" y="3621024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Барьер не денежный,
а юридический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9010" y="4370832"/>
            <a:ext cx="3033674" cy="1344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Купить нельзя, если владелец не продаёт. Но свою ИС можно создать с нуля — Half-Life, Minecraft — значит, не горлышко.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1596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DCE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dprojek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7628" y="2404872"/>
            <a:ext cx="566928" cy="5669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307628" y="3246119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Cyberpunk 2077:
права у Пондсмита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7628" y="3995927"/>
            <a:ext cx="3033674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CD Projekt не придумала Найт-Сити — взяла права на настольную Cyberpunk 2020 у Майка Пондсмита.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035040"/>
            <a:ext cx="11002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B34405"/>
                </a:solidFill>
                <a:latin typeface="Onest"/>
              </a:rPr>
              <a:t>На примере Cyberpunk 2077: </a:t>
            </a:r>
            <a:r>
              <a:rPr sz="1200" b="0">
                <a:solidFill>
                  <a:srgbClr val="6B6558"/>
                </a:solidFill>
                <a:latin typeface="Onest"/>
              </a:rPr>
              <a:t>CD Projekt не придумала Найт-Сити — взяла права на настольную Cyberpunk 2020 у Майка Пондсмита.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2244852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224485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ЭТАЖ 02 · КОНЦЕПТ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07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Концепт:
проработанная идея, а не ТЗ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0392" y="2404872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i_doc_F26A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2642615"/>
            <a:ext cx="576071" cy="5760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0392" y="3621024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Что такое концепт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059936"/>
            <a:ext cx="3033674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Не «хотим RPG про киберпанк» и не ТЗ. Это проработанный замысел: сеттинг, в чём фишка, какая ключевая механика, чем игра отличается от соседей по жанру.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DCE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79010" y="2404872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ui_compare_F26A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6754" y="2642615"/>
            <a:ext cx="576071" cy="57607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9010" y="3621024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За что конкурируют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9010" y="4059936"/>
            <a:ext cx="3033674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За то, чей замысел окажется сильнее проработан. Один и тот же жанр — но выигрывает тот, у кого мир, фишка и механика собраны в целое.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1596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14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07628" y="2404872"/>
            <a:ext cx="1051560" cy="1051560"/>
          </a:xfrm>
          <a:prstGeom prst="ellipse">
            <a:avLst/>
          </a:prstGeom>
          <a:solidFill>
            <a:srgbClr val="2A2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ui_clock_F26A1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5372" y="2642615"/>
            <a:ext cx="576071" cy="57607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07628" y="3621024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1ECE3"/>
                </a:solidFill>
                <a:latin typeface="Onest"/>
              </a:rPr>
              <a:t>Концепт живёт
до производства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7628" y="4370832"/>
            <a:ext cx="3033674" cy="1344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C9C4B8"/>
                </a:solidFill>
                <a:latin typeface="Onest"/>
              </a:rPr>
              <a:t>Он определяет бюджет, сроки и состав команды. Слабый концепт не спасут ни движок, ни подрядчики.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035040"/>
            <a:ext cx="11002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B34405"/>
                </a:solidFill>
                <a:latin typeface="Onest"/>
              </a:rPr>
              <a:t>На примере Cyberpunk 2077: </a:t>
            </a:r>
            <a:r>
              <a:rPr sz="1200" b="0">
                <a:solidFill>
                  <a:srgbClr val="6B6558"/>
                </a:solidFill>
                <a:latin typeface="Onest"/>
              </a:rPr>
              <a:t>концепт вырос из настольной Cyberpunk 2020: готовый сеттинг, лор и правила мира достались CD Projekt вместе с правами.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611880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ЭТАЖ 03 · ДВИЖКИ И ИНСТРУМЕНТЫ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08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Движки и инструменты:
производственный стандарт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unrealeng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404872"/>
            <a:ext cx="566928" cy="566928"/>
          </a:xfrm>
          <a:prstGeom prst="rect">
            <a:avLst/>
          </a:prstGeom>
        </p:spPr>
      </p:pic>
      <p:pic>
        <p:nvPicPr>
          <p:cNvPr id="8" name="Picture 7" descr="un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1912" y="2404872"/>
            <a:ext cx="566928" cy="566928"/>
          </a:xfrm>
          <a:prstGeom prst="rect">
            <a:avLst/>
          </a:prstGeom>
        </p:spPr>
      </p:pic>
      <p:pic>
        <p:nvPicPr>
          <p:cNvPr id="9" name="Picture 8" descr="godoteng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3432" y="2404872"/>
            <a:ext cx="566928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0392" y="3246119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Движки: два у 72% студий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3995927"/>
            <a:ext cx="3033674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Unreal — 42%, Unity — 30% по опросу GDC 2026. Godot — 8–10% релизов в Steam. Кого выбирают студии, тот и становится стандартом.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2978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DCE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nvid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9010" y="2404872"/>
            <a:ext cx="566928" cy="566928"/>
          </a:xfrm>
          <a:prstGeom prst="rect">
            <a:avLst/>
          </a:prstGeom>
        </p:spPr>
      </p:pic>
      <p:pic>
        <p:nvPicPr>
          <p:cNvPr id="14" name="Picture 13" descr="am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10530" y="2404872"/>
            <a:ext cx="566928" cy="5669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79010" y="3246119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Инструменты вокруг движка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9010" y="3995927"/>
            <a:ext cx="3033674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Графические API — DirectX, Vulkan, Metal. Физика — Havok, PhysX. Звук — Wwise, FMOD. Ассеты — Houdini, Substance. Версионирование — Perforce, Git LFS.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1596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14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rockstargames_pap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07628" y="2404872"/>
            <a:ext cx="566928" cy="566928"/>
          </a:xfrm>
          <a:prstGeom prst="rect">
            <a:avLst/>
          </a:prstGeom>
        </p:spPr>
      </p:pic>
      <p:pic>
        <p:nvPicPr>
          <p:cNvPr id="19" name="Picture 18" descr="valve_pap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39148" y="2404872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307628" y="3246119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1ECE3"/>
                </a:solidFill>
                <a:latin typeface="Onest"/>
              </a:rPr>
              <a:t>Свой движок: RAGE, Source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7628" y="3995927"/>
            <a:ext cx="3033674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C9C4B8"/>
                </a:solidFill>
                <a:latin typeface="Onest"/>
              </a:rPr>
              <a:t>Rockstar и Valve держат свои. Закрытость ценой выбора подрядчиков: этаж 03 управляет этажом 04.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035040"/>
            <a:ext cx="11002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B34405"/>
                </a:solidFill>
                <a:latin typeface="Onest"/>
              </a:rPr>
              <a:t>На примере Cyberpunk 2077: </a:t>
            </a:r>
            <a:r>
              <a:rPr sz="1200" b="0">
                <a:solidFill>
                  <a:srgbClr val="6B6558"/>
                </a:solidFill>
                <a:latin typeface="Onest"/>
              </a:rPr>
              <a:t>сделан на своём REDengine; в 2022-м CD Projekt объявила переход на Unreal Engine 5 — свой движок оказался заменяемым.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611880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ЭТАЖ 04 · КОМПОНЕНТЫ И АУТСОРС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09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Компоненты и аутсорс:
контракты разработчиков и издателей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irtu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532976"/>
            <a:ext cx="1143000" cy="310718"/>
          </a:xfrm>
          <a:prstGeom prst="rect">
            <a:avLst/>
          </a:prstGeom>
        </p:spPr>
      </p:pic>
      <p:pic>
        <p:nvPicPr>
          <p:cNvPr id="8" name="Picture 7" descr="room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7984" y="2439857"/>
            <a:ext cx="1143000" cy="496956"/>
          </a:xfrm>
          <a:prstGeom prst="rect">
            <a:avLst/>
          </a:prstGeom>
        </p:spPr>
      </p:pic>
      <p:pic>
        <p:nvPicPr>
          <p:cNvPr id="9" name="Picture 8" descr="keywo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5576" y="2542065"/>
            <a:ext cx="1143000" cy="292541"/>
          </a:xfrm>
          <a:prstGeom prst="rect">
            <a:avLst/>
          </a:prstGeom>
        </p:spPr>
      </p:pic>
      <p:pic>
        <p:nvPicPr>
          <p:cNvPr id="10" name="Picture 9" descr="jal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3168" y="2407599"/>
            <a:ext cx="1143000" cy="56147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50392" y="3246119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Сотни студий с узким профилем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3995927"/>
            <a:ext cx="3033674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Virtuos и Keywords — производство, Room 8 — арт, JALI — лицевая анимация, Wolf3D — 3D-контент. Каждая конкурирует за свой тип контракта.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2978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DCE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9010" y="2404872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ui_compare_F26A1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6754" y="2642615"/>
            <a:ext cx="576071" cy="57607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79010" y="3621024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Как получают контракт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9010" y="4370832"/>
            <a:ext cx="3033674" cy="1344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Титры похожих игр, фильтр по профилю, арт-тест, пилот на реальном контенте — и только потом договор. Решает сочетание опыта, срока и цены.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1596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14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rockstargames_pap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07628" y="2404872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307628" y="3246119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1ECE3"/>
                </a:solidFill>
                <a:latin typeface="Onest"/>
              </a:rPr>
              <a:t>Контрмодель: Rockstar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7628" y="3995927"/>
            <a:ext cx="3033674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C9C4B8"/>
                </a:solidFill>
                <a:latin typeface="Onest"/>
              </a:rPr>
              <a:t>Свои студии и свой движок. Внешнего арт-аутсорса почти нет — ценой закрытости.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035040"/>
            <a:ext cx="11002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B34405"/>
                </a:solidFill>
                <a:latin typeface="Onest"/>
              </a:rPr>
              <a:t>На примере Cyberpunk 2077: </a:t>
            </a:r>
            <a:r>
              <a:rPr sz="1200" b="0">
                <a:solidFill>
                  <a:srgbClr val="6B6558"/>
                </a:solidFill>
                <a:latin typeface="Onest"/>
              </a:rPr>
              <a:t>собран из компонентов внешних команд — механики, лицевая анимация, звук, QA — всё разными студиями.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2560320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ЭТАЖ 05 · РАЗРАБОТКА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10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Разработка:
почерк студии и уровень проработки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dprojek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404872"/>
            <a:ext cx="566928" cy="566928"/>
          </a:xfrm>
          <a:prstGeom prst="rect">
            <a:avLst/>
          </a:prstGeom>
        </p:spPr>
      </p:pic>
      <p:pic>
        <p:nvPicPr>
          <p:cNvPr id="8" name="Picture 7" descr="rockstargam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1912" y="2404872"/>
            <a:ext cx="566928" cy="566928"/>
          </a:xfrm>
          <a:prstGeom prst="rect">
            <a:avLst/>
          </a:prstGeom>
        </p:spPr>
      </p:pic>
      <p:pic>
        <p:nvPicPr>
          <p:cNvPr id="9" name="Picture 8" descr="riotgam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3432" y="2404872"/>
            <a:ext cx="566928" cy="566928"/>
          </a:xfrm>
          <a:prstGeom prst="rect">
            <a:avLst/>
          </a:prstGeom>
        </p:spPr>
      </p:pic>
      <p:pic>
        <p:nvPicPr>
          <p:cNvPr id="10" name="Picture 9" descr="val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4952" y="2404872"/>
            <a:ext cx="56692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50392" y="3557015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Что даёт разработчик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3995927"/>
            <a:ext cx="3033674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На выходе — игра с узнаваемым почерком студии: как сделаны детали, насколько плотно проработан мир, чувствуется ли рука автора.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2978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DCE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9010" y="2404872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ui_pen_F26A1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6754" y="2642615"/>
            <a:ext cx="576071" cy="57607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79010" y="3621024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Один замысел — разная реализация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9010" y="4370832"/>
            <a:ext cx="3033674" cy="1344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Два одинаковых по жанру проекта расходятся уровнем проработки. Watch Dogs и GTA качественно разные, но ни одна не «уникальнее» другой.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1596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14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7628" y="2404872"/>
            <a:ext cx="1051560" cy="1051560"/>
          </a:xfrm>
          <a:prstGeom prst="ellipse">
            <a:avLst/>
          </a:prstGeom>
          <a:solidFill>
            <a:srgbClr val="2A2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ui_layers_F26A1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45372" y="2642615"/>
            <a:ext cx="576071" cy="57607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307628" y="3621024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1ECE3"/>
                </a:solidFill>
                <a:latin typeface="Onest"/>
              </a:rPr>
              <a:t>Самый населённый этаж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7628" y="4370832"/>
            <a:ext cx="3033674" cy="1344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C9C4B8"/>
                </a:solidFill>
                <a:latin typeface="Onest"/>
              </a:rPr>
              <a:t>Тысячи студий, профили пересекаются. Игра переживает смену разработчика — значит, уровень заменяем и горлышком не является.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035040"/>
            <a:ext cx="11002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B34405"/>
                </a:solidFill>
                <a:latin typeface="Onest"/>
              </a:rPr>
              <a:t>На примере Cyberpunk 2077: </a:t>
            </a:r>
            <a:r>
              <a:rPr sz="1200" b="0">
                <a:solidFill>
                  <a:srgbClr val="6B6558"/>
                </a:solidFill>
                <a:latin typeface="Onest"/>
              </a:rPr>
              <a:t>разработчик — CD Projekt RED, около 500 человек в пике производства.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2244852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224485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ЭТАЖ 06 · ИЗДАНИЕ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11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Издание:
права на релиз и продвижение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404872"/>
            <a:ext cx="303367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ИЗДАТЕЛЬ</a:t>
            </a:r>
          </a:p>
        </p:txBody>
      </p:sp>
      <p:pic>
        <p:nvPicPr>
          <p:cNvPr id="8" name="Picture 7" descr="son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697479"/>
            <a:ext cx="566928" cy="566928"/>
          </a:xfrm>
          <a:prstGeom prst="rect">
            <a:avLst/>
          </a:prstGeom>
        </p:spPr>
      </p:pic>
      <p:pic>
        <p:nvPicPr>
          <p:cNvPr id="9" name="Picture 8" descr="ubiso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1912" y="2697479"/>
            <a:ext cx="566928" cy="566928"/>
          </a:xfrm>
          <a:prstGeom prst="rect">
            <a:avLst/>
          </a:prstGeom>
        </p:spPr>
      </p:pic>
      <p:pic>
        <p:nvPicPr>
          <p:cNvPr id="10" name="Picture 9" descr="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3432" y="2697479"/>
            <a:ext cx="566928" cy="566928"/>
          </a:xfrm>
          <a:prstGeom prst="rect">
            <a:avLst/>
          </a:prstGeom>
        </p:spPr>
      </p:pic>
      <p:pic>
        <p:nvPicPr>
          <p:cNvPr id="11" name="Picture 10" descr="squareeni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4952" y="2697479"/>
            <a:ext cx="566928" cy="566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50392" y="3429000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Права на издание и релиз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4178808"/>
            <a:ext cx="3033674" cy="1536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Берёт игру и выводит её на рынок: финансирование, договоры с платформами, сроки. Пример: «Человека-паука» 2018 года сделала Insomniac — тогда независимая студия, Sony была только издателем и купила её через год за $229 млн.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2978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DCE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9010" y="2404872"/>
            <a:ext cx="303367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МАРКЕТИНГ</a:t>
            </a:r>
          </a:p>
        </p:txBody>
      </p:sp>
      <p:sp>
        <p:nvSpPr>
          <p:cNvPr id="16" name="Oval 15"/>
          <p:cNvSpPr/>
          <p:nvPr/>
        </p:nvSpPr>
        <p:spPr>
          <a:xfrm>
            <a:off x="4579010" y="2697479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i_eye_F26A1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6754" y="2935224"/>
            <a:ext cx="576071" cy="57607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79010" y="3913631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Отдельный слой внутри издания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9010" y="4663440"/>
            <a:ext cx="3033674" cy="10515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Трейлеры, пресса, инфлюенсеры, вишлисты до релиза. Отвечает за него издатель, поэтому этаж один — но объект конкуренции здесь свой: внимание до покупки.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51596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14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07628" y="2404872"/>
            <a:ext cx="303367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F26A1B"/>
                </a:solidFill>
                <a:latin typeface="Onest"/>
              </a:rPr>
              <a:t>ХОЛДИНГ</a:t>
            </a:r>
          </a:p>
        </p:txBody>
      </p:sp>
      <p:sp>
        <p:nvSpPr>
          <p:cNvPr id="22" name="Oval 21"/>
          <p:cNvSpPr/>
          <p:nvPr/>
        </p:nvSpPr>
        <p:spPr>
          <a:xfrm>
            <a:off x="8307628" y="2697479"/>
            <a:ext cx="1051560" cy="1051560"/>
          </a:xfrm>
          <a:prstGeom prst="ellipse">
            <a:avLst/>
          </a:prstGeom>
          <a:solidFill>
            <a:srgbClr val="2A2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ui_layers_F26A1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45372" y="2935224"/>
            <a:ext cx="576071" cy="57607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307628" y="3913631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1ECE3"/>
                </a:solidFill>
                <a:latin typeface="Onest"/>
              </a:rPr>
              <a:t>Доли в тех, кто делает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7628" y="4663440"/>
            <a:ext cx="3033674" cy="10515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C9C4B8"/>
                </a:solidFill>
                <a:latin typeface="Onest"/>
              </a:rPr>
              <a:t>Tencent взяла 93% Riot в 2011-м и весь остаток к 2015-му. Игр не делает сама — конкурирует за активы, а не за релиз.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035040"/>
            <a:ext cx="11002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B34405"/>
                </a:solidFill>
                <a:latin typeface="Onest"/>
              </a:rPr>
              <a:t>На примере Cyberpunk 2077: </a:t>
            </a:r>
            <a:r>
              <a:rPr sz="1200" b="0">
                <a:solidFill>
                  <a:srgbClr val="6B6558"/>
                </a:solidFill>
                <a:latin typeface="Onest"/>
              </a:rPr>
              <a:t>у CD Projekt издатель и разработчик — разные юрлица одной группы.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296412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29641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ЭТАЖ 07 · ИГРОВЫЕ ПЛАТФОРМЫ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12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Игровые платформы:
установленная база и эксклюзивы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lays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404872"/>
            <a:ext cx="566928" cy="566928"/>
          </a:xfrm>
          <a:prstGeom prst="rect">
            <a:avLst/>
          </a:prstGeom>
        </p:spPr>
      </p:pic>
      <p:pic>
        <p:nvPicPr>
          <p:cNvPr id="8" name="Picture 7" descr="x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1912" y="2404872"/>
            <a:ext cx="566928" cy="566928"/>
          </a:xfrm>
          <a:prstGeom prst="rect">
            <a:avLst/>
          </a:prstGeom>
        </p:spPr>
      </p:pic>
      <p:pic>
        <p:nvPicPr>
          <p:cNvPr id="9" name="Picture 8" descr="nintendo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3432" y="2404872"/>
            <a:ext cx="566928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0392" y="3557015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Консоли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3995927"/>
            <a:ext cx="3033674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PlayStation, Xbox, Switch. Закрытые экосистемы: своё железо, своя сертификация, свои эксклюзивы. Конкурируют за проданные приставки.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2978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DCE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pp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9010" y="2404872"/>
            <a:ext cx="566928" cy="566928"/>
          </a:xfrm>
          <a:prstGeom prst="rect">
            <a:avLst/>
          </a:prstGeom>
        </p:spPr>
      </p:pic>
      <p:pic>
        <p:nvPicPr>
          <p:cNvPr id="14" name="Picture 13" descr="andro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10530" y="2404872"/>
            <a:ext cx="566928" cy="5669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79010" y="3557015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Мобайл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9010" y="3995927"/>
            <a:ext cx="3033674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iOS и Android. Самая большая установленная база — и своя пара ворот у каждой системы.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1596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14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07628" y="2404872"/>
            <a:ext cx="1051560" cy="1051560"/>
          </a:xfrm>
          <a:prstGeom prst="ellipse">
            <a:avLst/>
          </a:prstGeom>
          <a:solidFill>
            <a:srgbClr val="2A2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ui_unlock_F26A1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45372" y="2642615"/>
            <a:ext cx="576071" cy="57607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307628" y="3621024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1ECE3"/>
                </a:solidFill>
                <a:latin typeface="Onest"/>
              </a:rPr>
              <a:t>PC — открытая платформа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7628" y="4370832"/>
            <a:ext cx="3033674" cy="1344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C9C4B8"/>
                </a:solidFill>
                <a:latin typeface="Onest"/>
              </a:rPr>
              <a:t>Windows, macOS, Linux. Никто не сертифицирует игру и не владеет входом: собрал билд — запустил. Отсюда и разница с витриной, которая вход контролирует.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035040"/>
            <a:ext cx="11002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B34405"/>
                </a:solidFill>
                <a:latin typeface="Onest"/>
              </a:rPr>
              <a:t>На примере Cyberpunk 2077: </a:t>
            </a:r>
            <a:r>
              <a:rPr sz="1200" b="0">
                <a:solidFill>
                  <a:srgbClr val="6B6558"/>
                </a:solidFill>
                <a:latin typeface="Onest"/>
              </a:rPr>
              <a:t>провал запуска случился на PS4 и Xbox One — старое железо платформы определило судьбу релиза.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717035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71703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ЭТАЖ 08 · ВИТРИНЫ И ДИСТРИБУЦИЯ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13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Витрины и дистрибуция:
время игрока и его LTV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404872"/>
            <a:ext cx="566928" cy="566928"/>
          </a:xfrm>
          <a:prstGeom prst="rect">
            <a:avLst/>
          </a:prstGeom>
        </p:spPr>
      </p:pic>
      <p:pic>
        <p:nvPicPr>
          <p:cNvPr id="8" name="Picture 7" descr="playst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1912" y="2404872"/>
            <a:ext cx="566928" cy="566928"/>
          </a:xfrm>
          <a:prstGeom prst="rect">
            <a:avLst/>
          </a:prstGeom>
        </p:spPr>
      </p:pic>
      <p:pic>
        <p:nvPicPr>
          <p:cNvPr id="9" name="Picture 8" descr="appsto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3432" y="2404872"/>
            <a:ext cx="566928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0392" y="3557015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Что такое витрина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3995927"/>
            <a:ext cx="3033674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Магазин, который владеет аккаунтом игрока: библиотекой, платежами, рекомендациями. Steam, PS Store, Xbox, eShop, App Store, Google Play.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2978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DCE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79010" y="2404872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ui_clock_F26A1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6754" y="2642615"/>
            <a:ext cx="576071" cy="57607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79010" y="3621024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За что конкурируют витрины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9010" y="4370832"/>
            <a:ext cx="3033674" cy="1344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Чем дольше игрок живёт на витрине, тем больше покупок и комиссии. Плюс за каталог разработчиков — комиссией 30% против 12%.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1596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07628" y="2404872"/>
            <a:ext cx="1051560" cy="1051560"/>
          </a:xfrm>
          <a:prstGeom prst="ellipse">
            <a:avLst/>
          </a:prstGeom>
          <a:solidFill>
            <a:srgbClr val="D95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ui_funnel_F26A1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45372" y="2642615"/>
            <a:ext cx="576071" cy="57607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307628" y="3621024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Горлышко — на этом этаже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7628" y="4370832"/>
            <a:ext cx="3033674" cy="1344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3E2A1C"/>
                </a:solidFill>
                <a:latin typeface="Onest"/>
              </a:rPr>
              <a:t>Готовая игра не доходит до игрока иначе как через витрину. Почему именно здесь — разберём во втором разделе.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035040"/>
            <a:ext cx="11002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Платформа — это где игра запускается: железо, ОС, API. Витрина — это где её покупают: аккаунт, библиотека, платёж. Xbox — и то и другое сразу, отсюда путаница. Но PC как платформа открыт, а витрина на нём всё равно контролирует вход.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296412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29641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ЭТАЖ 08 · ЦЕПОЧКА УДЕРЖАНИЯ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14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Как время игрока превращается
в издержки переключения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468880"/>
            <a:ext cx="1666189" cy="2011680"/>
          </a:xfrm>
          <a:prstGeom prst="roundRect">
            <a:avLst>
              <a:gd name="adj" fmla="val 768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697480"/>
            <a:ext cx="133700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Время
на платформе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3794760"/>
            <a:ext cx="13370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558"/>
                </a:solidFill>
                <a:latin typeface="Onest"/>
              </a:rPr>
              <a:t>ресурс, не объект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278837" y="3383280"/>
            <a:ext cx="164592" cy="182880"/>
          </a:xfrm>
          <a:prstGeom prst="rightArrow">
            <a:avLst/>
          </a:prstGeom>
          <a:solidFill>
            <a:srgbClr val="F26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461717" y="2468880"/>
            <a:ext cx="1666189" cy="2011680"/>
          </a:xfrm>
          <a:prstGeom prst="roundRect">
            <a:avLst>
              <a:gd name="adj" fmla="val 768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26309" y="2697480"/>
            <a:ext cx="133700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Покупки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6309" y="3794760"/>
            <a:ext cx="13370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558"/>
                </a:solidFill>
                <a:latin typeface="Onest"/>
              </a:rPr>
              <a:t>витрина берёт комиссию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46194" y="3383280"/>
            <a:ext cx="164592" cy="182880"/>
          </a:xfrm>
          <a:prstGeom prst="rightArrow">
            <a:avLst/>
          </a:prstGeom>
          <a:solidFill>
            <a:srgbClr val="F26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29074" y="2468880"/>
            <a:ext cx="1666189" cy="2011680"/>
          </a:xfrm>
          <a:prstGeom prst="roundRect">
            <a:avLst>
              <a:gd name="adj" fmla="val 768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3666" y="2697480"/>
            <a:ext cx="133700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Библиотека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3666" y="3794760"/>
            <a:ext cx="13370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558"/>
                </a:solidFill>
                <a:latin typeface="Onest"/>
              </a:rPr>
              <a:t>не переносится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013551" y="3383280"/>
            <a:ext cx="164592" cy="182880"/>
          </a:xfrm>
          <a:prstGeom prst="rightArrow">
            <a:avLst/>
          </a:prstGeom>
          <a:solidFill>
            <a:srgbClr val="F26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96431" y="2468880"/>
            <a:ext cx="1666189" cy="2011680"/>
          </a:xfrm>
          <a:prstGeom prst="roundRect">
            <a:avLst>
              <a:gd name="adj" fmla="val 768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1023" y="2697480"/>
            <a:ext cx="133700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Друзья
и достижения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1023" y="3794760"/>
            <a:ext cx="13370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558"/>
                </a:solidFill>
                <a:latin typeface="Onest"/>
              </a:rPr>
              <a:t>живут только здесь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880908" y="3383280"/>
            <a:ext cx="164592" cy="182880"/>
          </a:xfrm>
          <a:prstGeom prst="rightArrow">
            <a:avLst/>
          </a:prstGeom>
          <a:solidFill>
            <a:srgbClr val="F26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63788" y="2468880"/>
            <a:ext cx="1666189" cy="2011680"/>
          </a:xfrm>
          <a:prstGeom prst="roundRect">
            <a:avLst>
              <a:gd name="adj" fmla="val 768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8380" y="2697480"/>
            <a:ext cx="133700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Издержки
переключения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8380" y="3794760"/>
            <a:ext cx="13370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558"/>
                </a:solidFill>
                <a:latin typeface="Onest"/>
              </a:rPr>
              <a:t>уйти = бросить всё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748266" y="3383280"/>
            <a:ext cx="164592" cy="182880"/>
          </a:xfrm>
          <a:prstGeom prst="rightArrow">
            <a:avLst/>
          </a:prstGeom>
          <a:solidFill>
            <a:srgbClr val="F26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931146" y="2468880"/>
            <a:ext cx="1666189" cy="2011680"/>
          </a:xfrm>
          <a:prstGeom prst="roundRect">
            <a:avLst>
              <a:gd name="adj" fmla="val 7683"/>
            </a:avLst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95738" y="2697480"/>
            <a:ext cx="133700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LTV игрока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95738" y="3794760"/>
            <a:ext cx="13370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3E2A1C"/>
                </a:solidFill>
                <a:latin typeface="Onest"/>
              </a:rPr>
              <a:t>то, за что и конкурируют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5029200"/>
            <a:ext cx="110029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Библиотеку нельзя перенести, достижения не переносятся, друзья для онлайна — только через платформу. Каждый год на витрине повышает цену ухода.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4032504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403250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ЭТАЖ 08 · ЗАВИСИМОСТЬ РАЗРАБОТЧИКА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15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Что нужно разработчику,
чтобы игра появилась на витрине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377440"/>
            <a:ext cx="2054291" cy="2743200"/>
          </a:xfrm>
          <a:prstGeom prst="roundRect">
            <a:avLst>
              <a:gd name="adj" fmla="val 623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5786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B34405"/>
                </a:solidFill>
                <a:latin typeface="Onest"/>
              </a:rPr>
              <a:t>ШАГ 1</a:t>
            </a:r>
          </a:p>
        </p:txBody>
      </p:sp>
      <p:pic>
        <p:nvPicPr>
          <p:cNvPr id="8" name="Picture 7" descr="ui_shield_F26A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926080"/>
            <a:ext cx="566928" cy="5669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657600"/>
            <a:ext cx="16885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16140F"/>
                </a:solidFill>
                <a:latin typeface="Onest"/>
              </a:rPr>
              <a:t>Сертификация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206240"/>
            <a:ext cx="1688531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558"/>
                </a:solidFill>
                <a:latin typeface="Onest"/>
              </a:rPr>
              <a:t>Технические требования каждой платформы. Не прошёл — релиза нет.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1531" y="2377440"/>
            <a:ext cx="2054291" cy="2743200"/>
          </a:xfrm>
          <a:prstGeom prst="roundRect">
            <a:avLst>
              <a:gd name="adj" fmla="val 623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4411" y="25786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B34405"/>
                </a:solidFill>
                <a:latin typeface="Onest"/>
              </a:rPr>
              <a:t>ШАГ 2</a:t>
            </a:r>
          </a:p>
        </p:txBody>
      </p:sp>
      <p:pic>
        <p:nvPicPr>
          <p:cNvPr id="13" name="Picture 12" descr="ui_percent_F26A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4411" y="2926080"/>
            <a:ext cx="566928" cy="5669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014411" y="3657600"/>
            <a:ext cx="16885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16140F"/>
                </a:solidFill>
                <a:latin typeface="Onest"/>
              </a:rPr>
              <a:t>Комиссия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4411" y="4206240"/>
            <a:ext cx="1688531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558"/>
                </a:solidFill>
                <a:latin typeface="Onest"/>
              </a:rPr>
              <a:t>Steam 30%. Epic 12%. App Store и Google Play 30%, по 15% для малых разработчиков. Консоли около 30%, точные условия под NDA.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68702" y="2377440"/>
            <a:ext cx="2054291" cy="2743200"/>
          </a:xfrm>
          <a:prstGeom prst="roundRect">
            <a:avLst>
              <a:gd name="adj" fmla="val 623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51582" y="25786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B34405"/>
                </a:solidFill>
                <a:latin typeface="Onest"/>
              </a:rPr>
              <a:t>ШАГ 3</a:t>
            </a:r>
          </a:p>
        </p:txBody>
      </p:sp>
      <p:pic>
        <p:nvPicPr>
          <p:cNvPr id="18" name="Picture 17" descr="ui_layers_F26A1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1582" y="2926080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51582" y="3657600"/>
            <a:ext cx="16885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16140F"/>
                </a:solidFill>
                <a:latin typeface="Onest"/>
              </a:rPr>
              <a:t>Отдельный билд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1582" y="4206240"/>
            <a:ext cx="1688531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558"/>
                </a:solidFill>
                <a:latin typeface="Onest"/>
              </a:rPr>
              <a:t>Своя сборка под каждую платформу. Порт — отдельный бюджет и сроки.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05873" y="2377440"/>
            <a:ext cx="2054291" cy="2743200"/>
          </a:xfrm>
          <a:prstGeom prst="roundRect">
            <a:avLst>
              <a:gd name="adj" fmla="val 623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88753" y="25786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B34405"/>
                </a:solidFill>
                <a:latin typeface="Onest"/>
              </a:rPr>
              <a:t>ШАГ 4</a:t>
            </a:r>
          </a:p>
        </p:txBody>
      </p:sp>
      <p:pic>
        <p:nvPicPr>
          <p:cNvPr id="23" name="Picture 22" descr="ui_doc_F26A1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88753" y="2926080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488753" y="3657600"/>
            <a:ext cx="16885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16140F"/>
                </a:solidFill>
                <a:latin typeface="Onest"/>
              </a:rPr>
              <a:t>Возрастной рейтинг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88753" y="4206240"/>
            <a:ext cx="1688531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558"/>
                </a:solidFill>
                <a:latin typeface="Onest"/>
              </a:rPr>
              <a:t>ESRB в США, PEGI в Европе, USK в Германии — независимые организации, которые присваивают игре возрастную категорию. Без рейтинга консольные витрины игру не берут.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43044" y="2377440"/>
            <a:ext cx="2054291" cy="2743200"/>
          </a:xfrm>
          <a:prstGeom prst="roundRect">
            <a:avLst>
              <a:gd name="adj" fmla="val 623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25924" y="25786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B34405"/>
                </a:solidFill>
                <a:latin typeface="Onest"/>
              </a:rPr>
              <a:t>ШАГ 5</a:t>
            </a:r>
          </a:p>
        </p:txBody>
      </p:sp>
      <p:pic>
        <p:nvPicPr>
          <p:cNvPr id="28" name="Picture 27" descr="ui_no_F26A1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25924" y="2926080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725924" y="3657600"/>
            <a:ext cx="16885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16140F"/>
                </a:solidFill>
                <a:latin typeface="Onest"/>
              </a:rPr>
              <a:t>Правила контента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25924" y="4206240"/>
            <a:ext cx="1688531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558"/>
                </a:solidFill>
                <a:latin typeface="Onest"/>
              </a:rPr>
              <a:t>Модерация витрины и требования к раскрытию, в том числе ИИ-контента. Отказ — релиза нет.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349240"/>
            <a:ext cx="110029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Каждый шаг — отдельные ворота со своей ценой, и условия диктует витрина. Быть на всех витринах дорого — это и работает на тезис о горлышке.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943600"/>
            <a:ext cx="110029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B34405"/>
                </a:solidFill>
                <a:latin typeface="Onest"/>
              </a:rPr>
              <a:t>Роялти Unreal — 5% после $1 млн, но 0% при продаже в Epic Games Store: витрина Epic субсидируется движком Epic.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611880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КТО СТОИТ НА НЕСКОЛЬКИХ ЭТАЖАХ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16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Позиция на одном этаже —
рычаг на другом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240280"/>
            <a:ext cx="5387187" cy="2514600"/>
          </a:xfrm>
          <a:prstGeom prst="roundRect">
            <a:avLst>
              <a:gd name="adj" fmla="val 5818"/>
            </a:avLst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395728"/>
            <a:ext cx="492998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6140F"/>
                </a:solidFill>
                <a:latin typeface="Onest"/>
              </a:rPr>
              <a:t>Valve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788920"/>
            <a:ext cx="1551889" cy="1828800"/>
          </a:xfrm>
          <a:prstGeom prst="roundRect">
            <a:avLst>
              <a:gd name="adj" fmla="val 765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val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856" y="2944368"/>
            <a:ext cx="768096" cy="7680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32688" y="3794760"/>
            <a:ext cx="13324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03 · ДВИЖОК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4069080"/>
            <a:ext cx="133243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6B6558"/>
                </a:solidFill>
                <a:latin typeface="Onest"/>
              </a:rPr>
              <a:t>Source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12009" y="2788920"/>
            <a:ext cx="1551889" cy="1828800"/>
          </a:xfrm>
          <a:prstGeom prst="roundRect">
            <a:avLst>
              <a:gd name="adj" fmla="val 765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val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3905" y="2944368"/>
            <a:ext cx="768096" cy="7680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621737" y="3794760"/>
            <a:ext cx="13324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05 · РАЗРАБОТКА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21737" y="4069080"/>
            <a:ext cx="133243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6B6558"/>
                </a:solidFill>
                <a:latin typeface="Onest"/>
              </a:rPr>
              <a:t>Half-Life, CS, Dota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1058" y="2788920"/>
            <a:ext cx="1551889" cy="1828800"/>
          </a:xfrm>
          <a:prstGeom prst="roundRect">
            <a:avLst>
              <a:gd name="adj" fmla="val 765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2955" y="2944368"/>
            <a:ext cx="768096" cy="7680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310786" y="3794760"/>
            <a:ext cx="13324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08 · ВИТРИНА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0786" y="4069080"/>
            <a:ext cx="133243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6B6558"/>
                </a:solidFill>
                <a:latin typeface="Onest"/>
              </a:rPr>
              <a:t>Steam — 75% PC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0147" y="2240280"/>
            <a:ext cx="5387187" cy="2514600"/>
          </a:xfrm>
          <a:prstGeom prst="roundRect">
            <a:avLst>
              <a:gd name="adj" fmla="val 5818"/>
            </a:avLst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38747" y="2395728"/>
            <a:ext cx="492998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6140F"/>
                </a:solidFill>
                <a:latin typeface="Onest"/>
              </a:rPr>
              <a:t>Epic Games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38747" y="2788920"/>
            <a:ext cx="1551889" cy="1828800"/>
          </a:xfrm>
          <a:prstGeom prst="roundRect">
            <a:avLst>
              <a:gd name="adj" fmla="val 765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unrealeng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0644" y="2944368"/>
            <a:ext cx="768096" cy="76809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548475" y="3794760"/>
            <a:ext cx="13324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03 · ДВИЖОК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8475" y="4069080"/>
            <a:ext cx="133243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6B6558"/>
                </a:solidFill>
                <a:latin typeface="Onest"/>
              </a:rPr>
              <a:t>Unreal — 42% студий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7796" y="2788920"/>
            <a:ext cx="1551889" cy="1828800"/>
          </a:xfrm>
          <a:prstGeom prst="roundRect">
            <a:avLst>
              <a:gd name="adj" fmla="val 765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epicgam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9693" y="2944368"/>
            <a:ext cx="768096" cy="76809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237524" y="3794760"/>
            <a:ext cx="13324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05 · РАЗРАБОТКА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37524" y="4069080"/>
            <a:ext cx="133243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6B6558"/>
                </a:solidFill>
                <a:latin typeface="Onest"/>
              </a:rPr>
              <a:t>Fortnite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816846" y="2788920"/>
            <a:ext cx="1551889" cy="1828800"/>
          </a:xfrm>
          <a:prstGeom prst="roundRect">
            <a:avLst>
              <a:gd name="adj" fmla="val 765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epicgam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08742" y="2944368"/>
            <a:ext cx="768096" cy="76809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926574" y="3794760"/>
            <a:ext cx="13324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08 · ВИТРИНА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26574" y="4069080"/>
            <a:ext cx="133243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6B6558"/>
                </a:solidFill>
                <a:latin typeface="Onest"/>
              </a:rPr>
              <a:t>EGS — 8–10%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4937760"/>
            <a:ext cx="1100297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Доля витрины у Epic — 8–10%, но 42% студий делают игры на его движке. Сила на этаже 03 финансирует борьбу на этаже 08: эксклюзивы, раздачи, комиссия 12%, 0% роялти в своём магазине. Valorant сделан Riot на Unreal — Epic получает роялти с чужого хита. Доля на одном этаже — не мера силы компании.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6172200"/>
            <a:ext cx="110029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Отсюда вопрос к проверке: возможно, магазин нужен Epic не ради выручки, а ради доверия разработчиков к экосистеме Unreal.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611880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ПРОВЕРКА · ОБЪЕКТЫ РАЗЛИЧАЮТСЯ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17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Объекты соседних этажей
не совпадают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11002975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50008"/>
            <a:ext cx="4952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6B6558"/>
                </a:solidFill>
                <a:latin typeface="Onest"/>
              </a:rPr>
              <a:t>03 · ДВИЖКИ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51760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Производственный стандарт: выбрал один раз — живёшь в нём годами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35927" y="2350008"/>
            <a:ext cx="4952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6B6558"/>
                </a:solidFill>
                <a:latin typeface="Onest"/>
              </a:rPr>
              <a:t>04 · АУТСОРС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35927" y="2651760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Контракты: торгуешься заново на каждом проекте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04407" y="2148840"/>
            <a:ext cx="73152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26A1B"/>
                </a:solidFill>
                <a:latin typeface="Onest"/>
              </a:rPr>
              <a:t>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044952"/>
            <a:ext cx="11002975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246120"/>
            <a:ext cx="4952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6B6558"/>
                </a:solidFill>
                <a:latin typeface="Onest"/>
              </a:rPr>
              <a:t>04 · АУТСОРС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547872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Продаёт кусок работы по договору — и уходит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35927" y="3246120"/>
            <a:ext cx="4952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6B6558"/>
                </a:solidFill>
                <a:latin typeface="Onest"/>
              </a:rPr>
              <a:t>05 · РАЗРАБОТКА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5927" y="3547872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Отвечает за целое: собирает куски в игру со своим почерком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04407" y="3044952"/>
            <a:ext cx="73152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26A1B"/>
                </a:solidFill>
                <a:latin typeface="Onest"/>
              </a:rPr>
              <a:t>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3941064"/>
            <a:ext cx="11002975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42232"/>
            <a:ext cx="4952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6B6558"/>
                </a:solidFill>
                <a:latin typeface="Onest"/>
              </a:rPr>
              <a:t>05 · РАЗРАБОТКА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443984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Почерк студии и уровень проработки — что игрок почувствует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5927" y="4142232"/>
            <a:ext cx="4952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6B6558"/>
                </a:solidFill>
                <a:latin typeface="Onest"/>
              </a:rPr>
              <a:t>06 · ИЗДАНИЕ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5927" y="4443984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Права на релиз и продвижение — не про ощущения игрока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04407" y="3941064"/>
            <a:ext cx="73152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26A1B"/>
                </a:solidFill>
                <a:latin typeface="Onest"/>
              </a:rPr>
              <a:t>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4837176"/>
            <a:ext cx="11002975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038344"/>
            <a:ext cx="4952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6B6558"/>
                </a:solidFill>
                <a:latin typeface="Onest"/>
              </a:rPr>
              <a:t>06 · ИЗДАНИЕ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40096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Право вывести игру на рынок и деньги на это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35927" y="5038344"/>
            <a:ext cx="4952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6B6558"/>
                </a:solidFill>
                <a:latin typeface="Onest"/>
              </a:rPr>
              <a:t>07 · ПЛАТФОРМЫ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35927" y="5340096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Установленная база: у кого физически есть устройство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04407" y="4837176"/>
            <a:ext cx="73152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26A1B"/>
                </a:solidFill>
                <a:latin typeface="Onest"/>
              </a:rPr>
              <a:t>≠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5733288"/>
            <a:ext cx="11002975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934456"/>
            <a:ext cx="4952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6B6558"/>
                </a:solidFill>
                <a:latin typeface="Onest"/>
              </a:rPr>
              <a:t>07 · ПЛАТФОРМЫ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6236208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Возможность запустить — железо и API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35927" y="5934456"/>
            <a:ext cx="4952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6B6558"/>
                </a:solidFill>
                <a:latin typeface="Onest"/>
              </a:rPr>
              <a:t>08 · ВИТРИНЫ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35927" y="6236208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Время игрока и его LTV — где он живёт и платит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04407" y="5733288"/>
            <a:ext cx="73152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26A1B"/>
                </a:solidFill>
                <a:latin typeface="Onest"/>
              </a:rPr>
              <a:t>≠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3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1403604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6E6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40360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F1ECE3"/>
                </a:solidFill>
                <a:latin typeface="Onest"/>
              </a:rPr>
              <a:t>РАЗДЕЛ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9A968C"/>
                </a:solidFill>
                <a:latin typeface="Onest"/>
              </a:rPr>
              <a:t>18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56855" y="320040"/>
            <a:ext cx="38404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90000"/>
              </a:lnSpc>
            </a:pPr>
            <a:r>
              <a:rPr sz="15000" b="1">
                <a:solidFill>
                  <a:srgbClr val="F26A1B"/>
                </a:solidFill>
                <a:latin typeface="Onest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108960"/>
            <a:ext cx="8229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6400" b="1">
                <a:solidFill>
                  <a:srgbClr val="F1ECE3"/>
                </a:solidFill>
                <a:latin typeface="Onest"/>
              </a:rPr>
              <a:t>БУТЫЛОЧНОЕ
ГОРЛЫШКО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1206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B8B3A7"/>
                </a:solidFill>
                <a:latin typeface="Onest"/>
              </a:rPr>
              <a:t>Ищем его тестом отказом, а не по деньгам на этаже.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506724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50672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ПОНЯТИЕ · БУТЫЛОЧНОЕ ГОРЛЫШКО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19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Уровень, где мало игроков,
а зависят от них все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286000"/>
            <a:ext cx="6766560" cy="117043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468880"/>
            <a:ext cx="625449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ПРИЗНАК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715768"/>
            <a:ext cx="625449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6140F"/>
                </a:solidFill>
                <a:latin typeface="Onest"/>
              </a:rPr>
              <a:t>Мало игроков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3035808"/>
            <a:ext cx="625449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6558"/>
                </a:solidFill>
                <a:latin typeface="Onest"/>
              </a:rPr>
              <a:t>Считаем тех, к кому реально можно пойти. Сотня студий — много, несколько витрин — мало.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3593591"/>
            <a:ext cx="6766560" cy="117043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3776472"/>
            <a:ext cx="625449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ПРИЗНАК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4023359"/>
            <a:ext cx="625449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6140F"/>
                </a:solidFill>
                <a:latin typeface="Onest"/>
              </a:rPr>
              <a:t>Нет альтернативы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4343400"/>
            <a:ext cx="625449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6558"/>
                </a:solidFill>
                <a:latin typeface="Onest"/>
              </a:rPr>
              <a:t>Можно заменить — больно, дорого, но можно — это не горлышко.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4901183"/>
            <a:ext cx="6766560" cy="1170432"/>
          </a:xfrm>
          <a:prstGeom prst="roundRect">
            <a:avLst>
              <a:gd name="adj" fmla="val 12500"/>
            </a:avLst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5084064"/>
            <a:ext cx="625449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5A3416"/>
                </a:solidFill>
                <a:latin typeface="Onest"/>
              </a:rPr>
              <a:t>ЧТО УДЕРЖИВАЕТ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5330951"/>
            <a:ext cx="625449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6140F"/>
                </a:solidFill>
                <a:latin typeface="Onest"/>
              </a:rPr>
              <a:t>Барьер входа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" y="5650992"/>
            <a:ext cx="625449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E2A1C"/>
                </a:solidFill>
                <a:latin typeface="Onest"/>
              </a:rPr>
              <a:t>Не деньги, а то, что деньгами не покупается: сетевой эффект, библиотека, привычка.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0" y="2286000"/>
            <a:ext cx="4007815" cy="3794760"/>
          </a:xfrm>
          <a:prstGeom prst="roundRect">
            <a:avLst>
              <a:gd name="adj" fmla="val 385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0" y="2514600"/>
            <a:ext cx="4007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6B6558"/>
                </a:solidFill>
                <a:latin typeface="Onest"/>
              </a:rPr>
              <a:t>ЭТАЖИ 01–07</a:t>
            </a:r>
          </a:p>
        </p:txBody>
      </p:sp>
      <p:sp>
        <p:nvSpPr>
          <p:cNvPr id="20" name="Trapezoid 19"/>
          <p:cNvSpPr/>
          <p:nvPr/>
        </p:nvSpPr>
        <p:spPr>
          <a:xfrm rot="10800000">
            <a:off x="8046720" y="2834640"/>
            <a:ext cx="3093415" cy="1920240"/>
          </a:xfrm>
          <a:prstGeom prst="trapezoid">
            <a:avLst>
              <a:gd name="adj" fmla="val 42000"/>
            </a:avLst>
          </a:prstGeom>
          <a:solidFill>
            <a:srgbClr val="E7E1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8232324" y="3108960"/>
            <a:ext cx="2722206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417929" y="3383280"/>
            <a:ext cx="2350996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603534" y="3657600"/>
            <a:ext cx="1979786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789139" y="3931920"/>
            <a:ext cx="1608576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974744" y="4206240"/>
            <a:ext cx="1237366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160349" y="4480560"/>
            <a:ext cx="866156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9300234" y="4754880"/>
            <a:ext cx="586386" cy="640080"/>
          </a:xfrm>
          <a:prstGeom prst="rect">
            <a:avLst/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00234" y="4773168"/>
            <a:ext cx="58638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16140F"/>
                </a:solidFill>
                <a:latin typeface="Onest"/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0234" y="5102352"/>
            <a:ext cx="58638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700" b="1">
                <a:solidFill>
                  <a:srgbClr val="3E2A1C"/>
                </a:solidFill>
                <a:latin typeface="Onest"/>
              </a:rPr>
              <a:t>ВИТРИНА</a:t>
            </a:r>
          </a:p>
        </p:txBody>
      </p:sp>
      <p:sp>
        <p:nvSpPr>
          <p:cNvPr id="30" name="Down Arrow 29"/>
          <p:cNvSpPr/>
          <p:nvPr/>
        </p:nvSpPr>
        <p:spPr>
          <a:xfrm>
            <a:off x="9483699" y="5440680"/>
            <a:ext cx="219456" cy="365760"/>
          </a:xfrm>
          <a:prstGeom prst="downArrow">
            <a:avLst/>
          </a:prstGeom>
          <a:solidFill>
            <a:srgbClr val="F26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89520" y="5806440"/>
            <a:ext cx="4007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16140F"/>
                </a:solidFill>
                <a:latin typeface="Onest"/>
              </a:rPr>
              <a:t>ИГРОК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4137660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41376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ЦЕПОЧКА ЗАВИСИМОСТЕЙ · ТЕСТ ОТКАЗОМ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20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Тест отказом
по четырём уровням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286000"/>
            <a:ext cx="2613583" cy="3474720"/>
          </a:xfrm>
          <a:prstGeom prst="roundRect">
            <a:avLst>
              <a:gd name="adj" fmla="val 559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42032"/>
            <a:ext cx="215638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6140F"/>
                </a:solidFill>
                <a:latin typeface="Onest"/>
              </a:rPr>
              <a:t>Откажет движок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46120"/>
            <a:ext cx="2156383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B6558"/>
                </a:solidFill>
                <a:latin typeface="Onest"/>
              </a:rPr>
              <a:t>Берёшь другой. Valve ушла с Quake и собрала GoldSrc; CD Projekt уходит с REDengine на Unreal.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20640"/>
            <a:ext cx="215638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6140F"/>
                </a:solidFill>
                <a:latin typeface="Onest"/>
              </a:rPr>
              <a:t>Альтернатива есть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0823" y="2286000"/>
            <a:ext cx="2613583" cy="3474720"/>
          </a:xfrm>
          <a:prstGeom prst="roundRect">
            <a:avLst>
              <a:gd name="adj" fmla="val 559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9423" y="2542032"/>
            <a:ext cx="215638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6140F"/>
                </a:solidFill>
                <a:latin typeface="Onest"/>
              </a:rPr>
              <a:t>Откажет подрядчик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9423" y="3246120"/>
            <a:ext cx="2156383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B6558"/>
                </a:solidFill>
                <a:latin typeface="Onest"/>
              </a:rPr>
              <a:t>Меняешь. Сотни студий, профили пересекаются.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9423" y="5120640"/>
            <a:ext cx="215638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6140F"/>
                </a:solidFill>
                <a:latin typeface="Onest"/>
              </a:rPr>
              <a:t>Альтернатива есть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7287" y="2286000"/>
            <a:ext cx="2613583" cy="3474720"/>
          </a:xfrm>
          <a:prstGeom prst="roundRect">
            <a:avLst>
              <a:gd name="adj" fmla="val 559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5887" y="2542032"/>
            <a:ext cx="215638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6140F"/>
                </a:solidFill>
                <a:latin typeface="Onest"/>
              </a:rPr>
              <a:t>Откажет издатель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5887" y="3246120"/>
            <a:ext cx="2156383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B6558"/>
                </a:solidFill>
                <a:latin typeface="Onest"/>
              </a:rPr>
              <a:t>Ищешь другого или идёшь без него. Игрок этого даже не заметит.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5887" y="5120640"/>
            <a:ext cx="215638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6140F"/>
                </a:solidFill>
                <a:latin typeface="Onest"/>
              </a:rPr>
              <a:t>Есть, но дорогая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83751" y="2286000"/>
            <a:ext cx="2613583" cy="3474720"/>
          </a:xfrm>
          <a:prstGeom prst="roundRect">
            <a:avLst>
              <a:gd name="adj" fmla="val 5597"/>
            </a:avLst>
          </a:prstGeom>
          <a:solidFill>
            <a:srgbClr val="14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12351" y="2542032"/>
            <a:ext cx="215638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26A1B"/>
                </a:solidFill>
                <a:latin typeface="Onest"/>
              </a:rPr>
              <a:t>Откажет витрина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2351" y="3246120"/>
            <a:ext cx="2156383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C9C4B8"/>
                </a:solidFill>
                <a:latin typeface="Onest"/>
              </a:rPr>
              <a:t>Игры не существует. Игрок физически не может её найти и купить.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12351" y="5120640"/>
            <a:ext cx="215638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26A1B"/>
                </a:solidFill>
                <a:latin typeface="Onest"/>
              </a:rPr>
              <a:t>Альтернативы нет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172200"/>
            <a:ext cx="110029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Три уровня из четырёх заменяемы. Жёсткая зависимость ровно одна.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3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2770632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6E6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277063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F1ECE3"/>
                </a:solidFill>
                <a:latin typeface="Onest"/>
              </a:rPr>
              <a:t>ГОРЛЫШКО · ОБОСНОВАНИЕ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9A968C"/>
                </a:solidFill>
                <a:latin typeface="Onest"/>
              </a:rPr>
              <a:t>21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1ECE3"/>
                </a:solidFill>
                <a:latin typeface="Onest"/>
              </a:rPr>
              <a:t>Горлышко — </a:t>
            </a:r>
            <a:r>
              <a:rPr sz="3600" b="1">
                <a:solidFill>
                  <a:srgbClr val="F26A1B"/>
                </a:solidFill>
                <a:latin typeface="Onest"/>
              </a:rPr>
              <a:t>уровень витрин</a:t>
            </a:r>
            <a:r>
              <a:rPr sz="3600" b="1">
                <a:solidFill>
                  <a:srgbClr val="F1ECE3"/>
                </a:solidFill>
                <a:latin typeface="Onest"/>
              </a:rPr>
              <a:t>,
а не отдельная компания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14600"/>
            <a:ext cx="33018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800" b="1">
                <a:solidFill>
                  <a:srgbClr val="F26A1B"/>
                </a:solidFill>
                <a:latin typeface="Onest"/>
              </a:rPr>
              <a:t>75%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74720"/>
            <a:ext cx="32104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B8B3A7"/>
                </a:solidFill>
                <a:latin typeface="Onest"/>
              </a:rPr>
              <a:t>выручки PC-дистрибуции у Steam — это лишь PC-проекция горлышка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62018" y="2514600"/>
            <a:ext cx="33018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800" b="1">
                <a:solidFill>
                  <a:srgbClr val="F26A1B"/>
                </a:solidFill>
                <a:latin typeface="Onest"/>
              </a:rPr>
              <a:t>2–3%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62018" y="3474720"/>
            <a:ext cx="32104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B8B3A7"/>
                </a:solidFill>
                <a:latin typeface="Onest"/>
              </a:rPr>
              <a:t>у GOG — третьей витрины PC. Всё, что не Steam и не Epic, — крошки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9676" y="2514600"/>
            <a:ext cx="33018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800" b="1">
                <a:solidFill>
                  <a:srgbClr val="F26A1B"/>
                </a:solidFill>
                <a:latin typeface="Onest"/>
              </a:rPr>
              <a:t>8–10%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9676" y="3474720"/>
            <a:ext cx="32104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B8B3A7"/>
                </a:solidFill>
                <a:latin typeface="Onest"/>
              </a:rPr>
              <a:t>у Epic, который раздаёт игры бесплатно не первый год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480560"/>
            <a:ext cx="5410047" cy="1463040"/>
          </a:xfrm>
          <a:prstGeom prst="roundRect">
            <a:avLst>
              <a:gd name="adj" fmla="val 8750"/>
            </a:avLst>
          </a:prstGeom>
          <a:solidFill>
            <a:srgbClr val="23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4663440"/>
            <a:ext cx="48979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1ECE3"/>
                </a:solidFill>
                <a:latin typeface="Onest"/>
              </a:rPr>
              <a:t>Что мешает войти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" y="5074920"/>
            <a:ext cx="489798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B8B3A7"/>
                </a:solidFill>
                <a:latin typeface="Onest"/>
              </a:rPr>
              <a:t>Купленная библиотека не переносится. Уйти — значит бросить всё, за что заплачено.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4480560"/>
            <a:ext cx="5410047" cy="1463040"/>
          </a:xfrm>
          <a:prstGeom prst="roundRect">
            <a:avLst>
              <a:gd name="adj" fmla="val 8750"/>
            </a:avLst>
          </a:prstGeom>
          <a:solidFill>
            <a:srgbClr val="23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3319" y="4663440"/>
            <a:ext cx="48979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1ECE3"/>
                </a:solidFill>
                <a:latin typeface="Onest"/>
              </a:rPr>
              <a:t>Контраргумент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3319" y="5074920"/>
            <a:ext cx="489798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B8B3A7"/>
                </a:solidFill>
                <a:latin typeface="Onest"/>
              </a:rPr>
              <a:t>Steam — только PC. Поэтому горлышко не компания, а уровень: в каждой экосистеме своя витрина.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506724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50672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ГОРЛЫШКО · ПРОВЕРЕННЫЕ СЛУЧАИ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22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Три случая отключения
игры витриной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240280"/>
            <a:ext cx="3545738" cy="3611880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496312"/>
            <a:ext cx="303367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6 МЕСЯЦЕВ ВНЕ PS STORE</a:t>
            </a:r>
          </a:p>
        </p:txBody>
      </p:sp>
      <p:sp>
        <p:nvSpPr>
          <p:cNvPr id="8" name="Oval 7"/>
          <p:cNvSpPr/>
          <p:nvPr/>
        </p:nvSpPr>
        <p:spPr>
          <a:xfrm>
            <a:off x="850392" y="2788920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lays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3026664"/>
            <a:ext cx="576071" cy="5760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0392" y="4005072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Cyberpunk 2077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4443984"/>
            <a:ext cx="3033674" cy="12252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Sony убрала игру 18.12.2020 и вернула деньги всем. Вернулась 21.06.2021.  Акции CD Projekt — минус 20% за день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2978" y="2240280"/>
            <a:ext cx="3545738" cy="3611880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9010" y="2496312"/>
            <a:ext cx="303367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ПОЧТИ 5 ЛЕТ ВНЕ APP STORE</a:t>
            </a:r>
          </a:p>
        </p:txBody>
      </p:sp>
      <p:sp>
        <p:nvSpPr>
          <p:cNvPr id="14" name="Oval 13"/>
          <p:cNvSpPr/>
          <p:nvPr/>
        </p:nvSpPr>
        <p:spPr>
          <a:xfrm>
            <a:off x="4579010" y="2788920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p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6754" y="3026664"/>
            <a:ext cx="576071" cy="57607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79010" y="4005072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Fortnite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9010" y="4443984"/>
            <a:ext cx="3033674" cy="12252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Apple удалила игру в августе 2020-го. Вернулась в американский App Store в мае 2025-го.  Пять лет игры не существовало для iOS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1596" y="2240280"/>
            <a:ext cx="3545738" cy="3611880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7628" y="2496312"/>
            <a:ext cx="303367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ТОЛЬКО VK PLAY В РФ И СНГ</a:t>
            </a:r>
          </a:p>
        </p:txBody>
      </p:sp>
      <p:sp>
        <p:nvSpPr>
          <p:cNvPr id="20" name="Oval 19"/>
          <p:cNvSpPr/>
          <p:nvPr/>
        </p:nvSpPr>
        <p:spPr>
          <a:xfrm>
            <a:off x="8307628" y="2788920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v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5372" y="3026664"/>
            <a:ext cx="576071" cy="57607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307628" y="4005072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Atomic Heart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7628" y="4443984"/>
            <a:ext cx="3033674" cy="12252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На релизе 21.02.2023 страница в Steam была недоступна в регионе.  Больше трёх лет без Steam в России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172200"/>
            <a:ext cx="110029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Игра была готова и куплена. Отказал только уровень витрины — и этого хватило.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2139696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213969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СКРЫТЫЕ ГОРЛЫШКИ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23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Скрытые горлышки:
сертификация, издатель, мощности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240280"/>
            <a:ext cx="3545738" cy="3611880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0392" y="2496312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i_shield_F26A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2734056"/>
            <a:ext cx="576071" cy="5760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0392" y="3712464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Сертификация
и возрастной рейтинг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462272"/>
            <a:ext cx="3033674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Не прошёл ESRB или PEGI — на консоль не вышел. Обойти нельзя.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2240280"/>
            <a:ext cx="3545738" cy="3611880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79010" y="2496312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ui_no_F26A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6754" y="2734056"/>
            <a:ext cx="576071" cy="57607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9010" y="3712464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Нет издателя —
нет игры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9010" y="4462272"/>
            <a:ext cx="3033674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Команда сильная, права есть, а издателя нет. Для инди горлышко — шестой этаж, а не восьмой.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1596" y="2240280"/>
            <a:ext cx="3545738" cy="3611880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07628" y="2496312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ui_clock_F26A1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5372" y="2734056"/>
            <a:ext cx="576071" cy="57607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07628" y="3712464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Мощности подрядчиков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7628" y="4151376"/>
            <a:ext cx="3033674" cy="15179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Cyberpunk сорвал не аутсорс, а скоуп и старые консоли. Но конвейер студий — признак нехватки.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172200"/>
            <a:ext cx="110029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Горлышко ищется не по выручке этажа, а по отсутствию альтернативы у тех, кто зависит.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6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717035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8A4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71703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ОТКРЫТЫЙ ВОПРОС · ВЫНОСИМ В ЗАЛ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8A4A28"/>
                </a:solidFill>
                <a:latin typeface="Onest"/>
              </a:rPr>
              <a:t>24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Открытый вопрос:
где проходит граница рынка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75307" y="3017520"/>
            <a:ext cx="4206240" cy="173736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31339" y="3273552"/>
            <a:ext cx="369417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РЫНОК = PC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31339" y="3566160"/>
            <a:ext cx="36941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6140F"/>
                </a:solidFill>
                <a:latin typeface="Onest"/>
              </a:rPr>
              <a:t>Горлышко — Steam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31339" y="4023360"/>
            <a:ext cx="36941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75% выручки, альтернатив практически нет.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3017520"/>
            <a:ext cx="4206240" cy="173736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6179" y="3273552"/>
            <a:ext cx="369417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РЫНОК = ГЕЙМИНГ ЦЕЛИКОМ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6179" y="3566160"/>
            <a:ext cx="36941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6140F"/>
                </a:solidFill>
                <a:latin typeface="Onest"/>
              </a:rPr>
              <a:t>Горлышек несколько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6179" y="4023360"/>
            <a:ext cx="36941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По одному на экосистему — и каждое монополист в своей.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2560320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ИСТОЧНИКИ ВСЕХ ЧИСЕЛ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25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6140F"/>
                </a:solidFill>
                <a:latin typeface="Onest"/>
              </a:rPr>
              <a:t>Откуда взяты числа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783080"/>
          <a:ext cx="11002975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0"/>
                <a:gridCol w="2011680"/>
                <a:gridCol w="2956255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6B6558"/>
                          </a:solidFill>
                          <a:latin typeface="Onest"/>
                        </a:rPr>
                        <a:t>ЧИСЛО</a:t>
                      </a:r>
                    </a:p>
                  </a:txBody>
                  <a:tcPr marL="91440" marR="91440" marT="36576" marB="36576">
                    <a:solidFill>
                      <a:srgbClr val="E7E1D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6B6558"/>
                          </a:solidFill>
                          <a:latin typeface="Onest"/>
                        </a:rPr>
                        <a:t>ГДЕ В ДЕКЕ</a:t>
                      </a:r>
                    </a:p>
                  </a:txBody>
                  <a:tcPr marL="91440" marR="91440" marT="36576" marB="36576">
                    <a:solidFill>
                      <a:srgbClr val="E7E1D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6B6558"/>
                          </a:solidFill>
                          <a:latin typeface="Onest"/>
                        </a:rPr>
                        <a:t>ИСТОЧНИК</a:t>
                      </a:r>
                    </a:p>
                  </a:txBody>
                  <a:tcPr marL="91440" marR="91440" marT="36576" marB="36576">
                    <a:solidFill>
                      <a:srgbClr val="E7E1D5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Unreal 42%, Unity 30% — основной движок студий (опрос GDC 2026); Godot 8–10% релизов Steam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этаж 03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2"/>
                        </a:rPr>
                        <a:t>shattered.io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Steam 74–75% PC-дистрибуции; Epic 8–10%; GOG 2–3%; 147 млн MAU; пик 42 млн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этажи 08, горлышко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3"/>
                        </a:rPr>
                        <a:t>levvvel.com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Комиссии: Steam 30%, Epic 12%; с 06.2025 у Epic 0% на первый $1 млн в год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пайплайн витрины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4"/>
                        </a:rPr>
                        <a:t>shattered.io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Epic Games Store: 295 млн аккаунтов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измеримость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5"/>
                        </a:rPr>
                        <a:t>shattered.io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Роялти Unreal 5% после $1 млн; 0% при продаже в Epic Games Store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рычаг Epic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6"/>
                        </a:rPr>
                        <a:t>unrealengine.com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App Store 30%, 15% для малого бизнеса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пайплайн витрины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7"/>
                        </a:rPr>
                        <a:t>developer.apple.com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Google Play 30%, 15% на первый $1 млн в год с разработчика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пайплайн витрины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8"/>
                        </a:rPr>
                        <a:t>support.google.com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Steam требует раскрывать ИИ-контент: pre-generated и live-generated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правила контента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9"/>
                        </a:rPr>
                        <a:t>partner.steamgames.com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CD Projekt: переход с REDengine на Unreal Engine 5, март 2022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этаж 03, тест отказом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10"/>
                        </a:rPr>
                        <a:t>cdprojekt.com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Sony купила Insomniac за $229 млн, август 2019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этаж 06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11"/>
                        </a:rPr>
                        <a:t>gameworldobserver.com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Tencent: 93% Riot в 2011, 100% к концу 2015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этаж 06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12"/>
                        </a:rPr>
                        <a:t>techcrunch.com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Cyberpunk вне PS Store 18.12.2020 — 21.06.2021; акции CD Projekt −20%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кейсы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13"/>
                        </a:rPr>
                        <a:t>cnbc.com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Fortnite вне App Store: август 2020 — май 2025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кейсы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14"/>
                        </a:rPr>
                        <a:t>cnbc.com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Atomic Heart только в VK Play с 21.02.2023; в Steam РФ — 08.2026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кейсы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15"/>
                        </a:rPr>
                        <a:t>habr.com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Super Mario Bros. — 1985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этаж 01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16"/>
                        </a:rPr>
                        <a:t>nintendo.com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6309360"/>
            <a:ext cx="110029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Консольные комиссии (около 30%) платформы публично не раскрывают — указаны как оценка. Аудиторные метрики Steam и Epic взяты из одного агрегатора каждая и второй независимой публикацией не подтверждены.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2034540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20345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ПОНЯТИЯ ТАКТА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26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6140F"/>
                </a:solidFill>
                <a:latin typeface="Onest"/>
              </a:rPr>
              <a:t>Понятия, которыми пользовались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28800"/>
            <a:ext cx="5410047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057400"/>
            <a:ext cx="48979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6140F"/>
                </a:solidFill>
                <a:latin typeface="Onest"/>
              </a:rPr>
              <a:t>Конкуренция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450592"/>
            <a:ext cx="489798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Борьба за то, чего на всех не хватает. Всегда за что-то конкретное: если объект не назван, слово пустое.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828800"/>
            <a:ext cx="5410047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3319" y="2057400"/>
            <a:ext cx="48979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6140F"/>
                </a:solidFill>
                <a:latin typeface="Onest"/>
              </a:rPr>
              <a:t>Объект конкуренции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3319" y="2450592"/>
            <a:ext cx="489798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То, обладание чем даёт преимущество. На каждом этаже свой. Не деньги и не доля рынка — это следствие. Если объект нельзя измерить, мы его не называем.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200400"/>
            <a:ext cx="5410047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429000"/>
            <a:ext cx="48979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6140F"/>
                </a:solidFill>
                <a:latin typeface="Onest"/>
              </a:rPr>
              <a:t>Уровень (этаж)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" y="3822191"/>
            <a:ext cx="489798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Место в отрасли, где есть свой объект конкуренции. Не шаг процесса: этажи существуют параллельно, одна компания может стоять на нескольких.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3200400"/>
            <a:ext cx="5410047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3319" y="3429000"/>
            <a:ext cx="48979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6140F"/>
                </a:solidFill>
                <a:latin typeface="Onest"/>
              </a:rPr>
              <a:t>Барьер входа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3319" y="3822191"/>
            <a:ext cx="489798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То, что мешает новому игроку занять уровень: право, стандарт, накопленная база, сертификация. Чем выше барьер, тем дольше держится горлышко.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572000"/>
            <a:ext cx="5410047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4800600"/>
            <a:ext cx="48979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6140F"/>
                </a:solidFill>
                <a:latin typeface="Onest"/>
              </a:rPr>
              <a:t>Зависимость в цепочке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" y="5193792"/>
            <a:ext cx="489798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Насколько жёстко уровень нуждается в соседнем. Меряется тестом отказом: что будет с цепочкой, если уровень откажет, и есть ли чем заменить.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4572000"/>
            <a:ext cx="5410047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3319" y="4800600"/>
            <a:ext cx="48979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6140F"/>
                </a:solidFill>
                <a:latin typeface="Onest"/>
              </a:rPr>
              <a:t>Бутылочное горлышко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3319" y="5193792"/>
            <a:ext cx="489798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Уровень, где мало игроков, а зависят от них все. Там сосредоточена власть над всей цепочкой. Мало игроков само по себе — ещё не горлышко: нужно, чтобы не было альтернативы.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