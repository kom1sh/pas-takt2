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39.png"/><Relationship Id="rId26" Type="http://schemas.openxmlformats.org/officeDocument/2006/relationships/image" Target="../media/image40.png"/><Relationship Id="rId27" Type="http://schemas.openxmlformats.org/officeDocument/2006/relationships/image" Target="../media/image41.png"/><Relationship Id="rId28" Type="http://schemas.openxmlformats.org/officeDocument/2006/relationships/image" Target="../media/image42.png"/><Relationship Id="rId29" Type="http://schemas.openxmlformats.org/officeDocument/2006/relationships/image" Target="../media/image43.png"/><Relationship Id="rId30" Type="http://schemas.openxmlformats.org/officeDocument/2006/relationships/image" Target="../media/image4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28.png"/><Relationship Id="rId20" Type="http://schemas.openxmlformats.org/officeDocument/2006/relationships/image" Target="../media/image39.png"/><Relationship Id="rId21" Type="http://schemas.openxmlformats.org/officeDocument/2006/relationships/image" Target="../media/image40.png"/><Relationship Id="rId22" Type="http://schemas.openxmlformats.org/officeDocument/2006/relationships/image" Target="../media/image41.png"/><Relationship Id="rId23" Type="http://schemas.openxmlformats.org/officeDocument/2006/relationships/image" Target="../media/image42.png"/><Relationship Id="rId24" Type="http://schemas.openxmlformats.org/officeDocument/2006/relationships/image" Target="../media/image43.png"/><Relationship Id="rId25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dconf.com/article/gdc-2026-state-of-the-game-industry-reveals-impact-of-layoffs-generative-ai-and-more/" TargetMode="External"/><Relationship Id="rId3" Type="http://schemas.openxmlformats.org/officeDocument/2006/relationships/hyperlink" Target="https://shattered.io/unreal-engine-6-unity-market-share-2026" TargetMode="External"/><Relationship Id="rId4" Type="http://schemas.openxmlformats.org/officeDocument/2006/relationships/hyperlink" Target="https://levvvel.com/statistics/pc-gaming" TargetMode="External"/><Relationship Id="rId5" Type="http://schemas.openxmlformats.org/officeDocument/2006/relationships/hyperlink" Target="https://shattered.io/steam-vs-epic-games-store/" TargetMode="External"/><Relationship Id="rId6" Type="http://schemas.openxmlformats.org/officeDocument/2006/relationships/hyperlink" Target="https://shattered.io/epic-games-store-revenue-2026/" TargetMode="External"/><Relationship Id="rId7" Type="http://schemas.openxmlformats.org/officeDocument/2006/relationships/hyperlink" Target="https://www.unrealengine.com/license" TargetMode="External"/><Relationship Id="rId8" Type="http://schemas.openxmlformats.org/officeDocument/2006/relationships/hyperlink" Target="https://developer.apple.com/app-store/small-business-program/" TargetMode="External"/><Relationship Id="rId9" Type="http://schemas.openxmlformats.org/officeDocument/2006/relationships/hyperlink" Target="https://support.google.com/googleplay/android-developer/answer/112622" TargetMode="External"/><Relationship Id="rId10" Type="http://schemas.openxmlformats.org/officeDocument/2006/relationships/hyperlink" Target="https://partner.steamgames.com/doc/gettingstarted/contentsurvey" TargetMode="External"/><Relationship Id="rId11" Type="http://schemas.openxmlformats.org/officeDocument/2006/relationships/hyperlink" Target="https://www.cdprojekt.com/en/media/news/new-witcher-saga-announced-cd-projekt-red-begins-development-on-unreal-engine-5-as-part-of-a-strategic-partnership-with-epic-games/" TargetMode="External"/><Relationship Id="rId12" Type="http://schemas.openxmlformats.org/officeDocument/2006/relationships/hyperlink" Target="https://gameworldobserver.com/2020/02/11/sony-paid-229m-insomniac-games" TargetMode="External"/><Relationship Id="rId13" Type="http://schemas.openxmlformats.org/officeDocument/2006/relationships/hyperlink" Target="https://techcrunch.com/2015/12/16/tencent-takes-full-control-of-league-of-legends-creator-riot-games/" TargetMode="External"/><Relationship Id="rId14" Type="http://schemas.openxmlformats.org/officeDocument/2006/relationships/hyperlink" Target="https://www.cnbc.com/2020/12/18/sony-pulls-cyberpunk-2077-from-playstation-store-after-backlash.html" TargetMode="External"/><Relationship Id="rId15" Type="http://schemas.openxmlformats.org/officeDocument/2006/relationships/hyperlink" Target="https://www.cnbc.com/2025/05/20/apple-fortnite-app-store-epic-games.html" TargetMode="External"/><Relationship Id="rId16" Type="http://schemas.openxmlformats.org/officeDocument/2006/relationships/hyperlink" Target="https://habr.com/ru/news/687214/" TargetMode="External"/><Relationship Id="rId17" Type="http://schemas.openxmlformats.org/officeDocument/2006/relationships/hyperlink" Target="https://www.nintendo.com/us/store/products/super-mario-bros-nes-nintendo-switch-online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ПАС · ИТ-1 · 3 КУРС ·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8229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16140F"/>
                </a:solidFill>
                <a:latin typeface="Onest"/>
              </a:rPr>
              <a:t>ГЕЙМДЕВ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3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16140F"/>
                </a:solidFill>
                <a:latin typeface="Onest"/>
              </a:rPr>
              <a:t>Такт 2. Объекты конкуренции
и бутылочные горлышки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5074920"/>
            <a:ext cx="11002975" cy="0"/>
          </a:xfrm>
          <a:prstGeom prst="line">
            <a:avLst/>
          </a:prstGeom>
          <a:ln>
            <a:solidFill>
              <a:srgbClr val="8A4A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257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Разбираем на Cyberpunk 2077 и CD Projekt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8 этажей · 1 горлышко · прототип для правок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61391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6139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ОПРЕДЕЛЕНИЕ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такое геймдев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6583680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234440" cy="123444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pla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277063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4069080"/>
            <a:ext cx="6071616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6140F"/>
                </a:solidFill>
                <a:latin typeface="Onest"/>
              </a:rPr>
              <a:t>Программные интерактивные системы, в которых пользователь </a:t>
            </a:r>
            <a:r>
              <a:rPr sz="1500" b="1">
                <a:solidFill>
                  <a:srgbClr val="16140F"/>
                </a:solidFill>
                <a:latin typeface="Onest"/>
              </a:rPr>
              <a:t>добровольно действует в рамках искусственных правил</a:t>
            </a:r>
            <a:r>
              <a:rPr sz="1500" b="0">
                <a:solidFill>
                  <a:srgbClr val="16140F"/>
                </a:solidFill>
                <a:latin typeface="Onest"/>
              </a:rPr>
              <a:t>, а система непрерывно отвечает на его действия, — с доведением продукта и его поддержки до аудитории </a:t>
            </a:r>
            <a:r>
              <a:rPr sz="1500" b="1">
                <a:solidFill>
                  <a:srgbClr val="16140F"/>
                </a:solidFill>
                <a:latin typeface="Onest"/>
              </a:rPr>
              <a:t>через цифровые площадки дистрибуции</a:t>
            </a:r>
            <a:r>
              <a:rPr sz="1500" b="0">
                <a:solidFill>
                  <a:srgbClr val="16140F"/>
                </a:solidFill>
                <a:latin typeface="Ones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240280"/>
            <a:ext cx="4236415" cy="3794760"/>
          </a:xfrm>
          <a:prstGeom prst="roundRect">
            <a:avLst>
              <a:gd name="adj" fmla="val 3855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6952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734056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12464"/>
            <a:ext cx="372435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Не геймдев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4151376"/>
            <a:ext cx="372435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Веб-дизайн, тренажёры и обучающие симуляторы, классические приложения, розничная продажа игр, настольные игры.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19329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932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 конкуренции — то,
обладание которым даёт преимущество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ke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Право, стандарт,
опыт, внимание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можно удерживать. А пока удерживаешь — другим сюда хода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mon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Но не деньги
и не доля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ресурс на входе и следствие на выходе. За них не дерутся — их получают.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Проверка: сравни
с этажом выше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Объект тот же — значит, это один уровень, а не два. Если объект нельзя измерить — мы его не называем.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КАРТА
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Вертикаль из восьми уровней и объект конкуренции на каждом.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6634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1–2 · ВЕРТИКАЛЬ И ОБЪЕКТЫ ПО ЭТАЖАМ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96012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79" y="960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05495" y="9601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5272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25272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25272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125272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2" name="Picture 1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366456"/>
            <a:ext cx="365760" cy="365760"/>
          </a:xfrm>
          <a:prstGeom prst="rect">
            <a:avLst/>
          </a:prstGeom>
        </p:spPr>
      </p:pic>
      <p:pic>
        <p:nvPicPr>
          <p:cNvPr id="13" name="Picture 12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1366456"/>
            <a:ext cx="365760" cy="365760"/>
          </a:xfrm>
          <a:prstGeom prst="rect">
            <a:avLst/>
          </a:prstGeom>
        </p:spPr>
      </p:pic>
      <p:pic>
        <p:nvPicPr>
          <p:cNvPr id="14" name="Picture 13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1366456"/>
            <a:ext cx="365760" cy="3657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94360" y="190995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0995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190995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190995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19" name="Picture 18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023681"/>
            <a:ext cx="365760" cy="365760"/>
          </a:xfrm>
          <a:prstGeom prst="rect">
            <a:avLst/>
          </a:prstGeom>
        </p:spPr>
      </p:pic>
      <p:pic>
        <p:nvPicPr>
          <p:cNvPr id="20" name="Picture 1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023681"/>
            <a:ext cx="365760" cy="365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60" y="256717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6717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256717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256717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pic>
        <p:nvPicPr>
          <p:cNvPr id="25" name="Picture 24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2680906"/>
            <a:ext cx="365760" cy="365760"/>
          </a:xfrm>
          <a:prstGeom prst="rect">
            <a:avLst/>
          </a:prstGeom>
        </p:spPr>
      </p:pic>
      <p:pic>
        <p:nvPicPr>
          <p:cNvPr id="26" name="Picture 25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2680906"/>
            <a:ext cx="365760" cy="365760"/>
          </a:xfrm>
          <a:prstGeom prst="rect">
            <a:avLst/>
          </a:prstGeom>
        </p:spPr>
      </p:pic>
      <p:pic>
        <p:nvPicPr>
          <p:cNvPr id="27" name="Picture 26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2680906"/>
            <a:ext cx="365760" cy="365760"/>
          </a:xfrm>
          <a:prstGeom prst="rect">
            <a:avLst/>
          </a:prstGeom>
        </p:spPr>
      </p:pic>
      <p:pic>
        <p:nvPicPr>
          <p:cNvPr id="28" name="Picture 27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12503" y="2680906"/>
            <a:ext cx="365760" cy="3657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60" y="322440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322440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322440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Компоненты
и аутсорс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322440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pic>
        <p:nvPicPr>
          <p:cNvPr id="33" name="Picture 3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9872" y="3338131"/>
            <a:ext cx="744582" cy="365760"/>
          </a:xfrm>
          <a:prstGeom prst="rect">
            <a:avLst/>
          </a:prstGeom>
        </p:spPr>
      </p:pic>
      <p:pic>
        <p:nvPicPr>
          <p:cNvPr id="34" name="Picture 3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4888" y="3409845"/>
            <a:ext cx="868680" cy="222331"/>
          </a:xfrm>
          <a:prstGeom prst="rect">
            <a:avLst/>
          </a:prstGeom>
        </p:spPr>
      </p:pic>
      <p:pic>
        <p:nvPicPr>
          <p:cNvPr id="35" name="Picture 3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67336" y="3338131"/>
            <a:ext cx="841248" cy="365760"/>
          </a:xfrm>
          <a:prstGeom prst="rect">
            <a:avLst/>
          </a:prstGeom>
        </p:spPr>
      </p:pic>
      <p:pic>
        <p:nvPicPr>
          <p:cNvPr id="36" name="Picture 3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2352" y="3402938"/>
            <a:ext cx="868680" cy="23614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94360" y="388162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" y="388162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" y="388162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79" y="388162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41" name="Picture 4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3995356"/>
            <a:ext cx="365760" cy="365760"/>
          </a:xfrm>
          <a:prstGeom prst="rect">
            <a:avLst/>
          </a:prstGeom>
        </p:spPr>
      </p:pic>
      <p:pic>
        <p:nvPicPr>
          <p:cNvPr id="42" name="Picture 4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36631" y="3995356"/>
            <a:ext cx="365760" cy="365760"/>
          </a:xfrm>
          <a:prstGeom prst="rect">
            <a:avLst/>
          </a:prstGeom>
        </p:spPr>
      </p:pic>
      <p:pic>
        <p:nvPicPr>
          <p:cNvPr id="43" name="Picture 4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3995356"/>
            <a:ext cx="365760" cy="365760"/>
          </a:xfrm>
          <a:prstGeom prst="rect">
            <a:avLst/>
          </a:prstGeom>
        </p:spPr>
      </p:pic>
      <p:pic>
        <p:nvPicPr>
          <p:cNvPr id="44" name="Picture 4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3995356"/>
            <a:ext cx="365760" cy="36576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594360" y="453885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453885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" y="453885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79" y="453885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pic>
        <p:nvPicPr>
          <p:cNvPr id="49" name="Picture 48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048695" y="4652581"/>
            <a:ext cx="365760" cy="365760"/>
          </a:xfrm>
          <a:prstGeom prst="rect">
            <a:avLst/>
          </a:prstGeom>
        </p:spPr>
      </p:pic>
      <p:pic>
        <p:nvPicPr>
          <p:cNvPr id="50" name="Picture 49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36631" y="4652581"/>
            <a:ext cx="365760" cy="365760"/>
          </a:xfrm>
          <a:prstGeom prst="rect">
            <a:avLst/>
          </a:prstGeom>
        </p:spPr>
      </p:pic>
      <p:pic>
        <p:nvPicPr>
          <p:cNvPr id="51" name="Picture 50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24567" y="4652581"/>
            <a:ext cx="365760" cy="365760"/>
          </a:xfrm>
          <a:prstGeom prst="rect">
            <a:avLst/>
          </a:prstGeom>
        </p:spPr>
      </p:pic>
      <p:pic>
        <p:nvPicPr>
          <p:cNvPr id="52" name="Picture 51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12503" y="4652581"/>
            <a:ext cx="365760" cy="36576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94360" y="5196078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5196078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" y="5196078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5196078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7" name="Picture 56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309806"/>
            <a:ext cx="365760" cy="365760"/>
          </a:xfrm>
          <a:prstGeom prst="rect">
            <a:avLst/>
          </a:prstGeom>
        </p:spPr>
      </p:pic>
      <p:pic>
        <p:nvPicPr>
          <p:cNvPr id="58" name="Picture 57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309806"/>
            <a:ext cx="365760" cy="365760"/>
          </a:xfrm>
          <a:prstGeom prst="rect">
            <a:avLst/>
          </a:prstGeom>
        </p:spPr>
      </p:pic>
      <p:pic>
        <p:nvPicPr>
          <p:cNvPr id="59" name="Picture 58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309806"/>
            <a:ext cx="365760" cy="365760"/>
          </a:xfrm>
          <a:prstGeom prst="rect">
            <a:avLst/>
          </a:prstGeom>
        </p:spPr>
      </p:pic>
      <p:pic>
        <p:nvPicPr>
          <p:cNvPr id="60" name="Picture 59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309806"/>
            <a:ext cx="365760" cy="365760"/>
          </a:xfrm>
          <a:prstGeom prst="rect">
            <a:avLst/>
          </a:prstGeom>
        </p:spPr>
      </p:pic>
      <p:pic>
        <p:nvPicPr>
          <p:cNvPr id="61" name="Picture 60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309806"/>
            <a:ext cx="365760" cy="3657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4360" y="5853303"/>
            <a:ext cx="11002975" cy="593217"/>
          </a:xfrm>
          <a:prstGeom prst="roundRect">
            <a:avLst>
              <a:gd name="adj" fmla="val 18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5853303"/>
            <a:ext cx="365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1288" y="5853303"/>
            <a:ext cx="21945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5853303"/>
            <a:ext cx="4937760" cy="5932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Время игрока и его LTV</a:t>
            </a:r>
          </a:p>
        </p:txBody>
      </p:sp>
      <p:pic>
        <p:nvPicPr>
          <p:cNvPr id="66" name="Picture 65" descr="googlepl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048695" y="5967031"/>
            <a:ext cx="365760" cy="365760"/>
          </a:xfrm>
          <a:prstGeom prst="rect">
            <a:avLst/>
          </a:prstGeom>
        </p:spPr>
      </p:pic>
      <p:pic>
        <p:nvPicPr>
          <p:cNvPr id="67" name="Picture 66" descr="appstor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36631" y="5967031"/>
            <a:ext cx="365760" cy="365760"/>
          </a:xfrm>
          <a:prstGeom prst="rect">
            <a:avLst/>
          </a:prstGeom>
        </p:spPr>
      </p:pic>
      <p:pic>
        <p:nvPicPr>
          <p:cNvPr id="68" name="Picture 67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967031"/>
            <a:ext cx="365760" cy="365760"/>
          </a:xfrm>
          <a:prstGeom prst="rect">
            <a:avLst/>
          </a:prstGeom>
        </p:spPr>
      </p:pic>
      <p:pic>
        <p:nvPicPr>
          <p:cNvPr id="69" name="Picture 68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967031"/>
            <a:ext cx="365760" cy="365760"/>
          </a:xfrm>
          <a:prstGeom prst="rect">
            <a:avLst/>
          </a:prstGeom>
        </p:spPr>
      </p:pic>
      <p:pic>
        <p:nvPicPr>
          <p:cNvPr id="70" name="Picture 69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967031"/>
            <a:ext cx="365760" cy="365760"/>
          </a:xfrm>
          <a:prstGeom prst="rect">
            <a:avLst/>
          </a:prstGeom>
        </p:spPr>
      </p:pic>
      <p:pic>
        <p:nvPicPr>
          <p:cNvPr id="71" name="Picture 70" descr="steam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488375" y="5967031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ПРОВЕРКА · ОБЪЕКТЫ РАЗЛИЧАЮТСЯ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Объекты соседних этажей
не совпадают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03 · ДВИЖКИ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Производственный стандарт: выбрал один раз — живёшь в нём годами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5927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Контракты: торгуешься заново на каждом проекте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4407" y="2148840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44952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Продаёт кусок работы по договору — и уходит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Отвечает за целое: собирает куски в игру со своим почерком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4407" y="3044952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941064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Почерк студии и уровень проработки — что игрок почувствует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27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Права на релиз и продвижение — не про ощущения игрока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4407" y="3941064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837176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Право вывести игру на рынок и деньги на это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5927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Установленная база: у кого физически есть устройство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4407" y="4837176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733288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Возможность запустить — железо 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5927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08 · ВИТРИНЫ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5927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 игрока и его LTV — где он живёт и платит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4407" y="5733288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ГОРЛЫШКО
И ВЛАСТЬ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Ищем тестом отказом, а не по деньгам на этаже.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 · БУТЫЛОЧНОЕ ГОРЛЫШКО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Уровень, где мало игроков,
а зависят от них все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15768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Мало игроков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Считаем тех, к кому реально можно пойти. Сотня студий — много, несколько витрин —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76472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023359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Нет альтернативы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43400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Можно заменить — больно, дорого, но можно — это не горлышко.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01183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084064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5A3416"/>
                </a:solidFill>
                <a:latin typeface="Onest"/>
              </a:rPr>
              <a:t>ЧТО УДЕРЖИВАЕТ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330951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650992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Не деньги, а то, что деньгами не покупается: сетевой эффект, библиотека, привычка.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86000"/>
            <a:ext cx="4007815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5146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6B6558"/>
                </a:solidFill>
                <a:latin typeface="Onest"/>
              </a:rPr>
              <a:t>ЭТАЖИ 01–07</a:t>
            </a:r>
          </a:p>
        </p:txBody>
      </p:sp>
      <p:sp>
        <p:nvSpPr>
          <p:cNvPr id="20" name="Trapezoid 19"/>
          <p:cNvSpPr/>
          <p:nvPr/>
        </p:nvSpPr>
        <p:spPr>
          <a:xfrm rot="10800000">
            <a:off x="8046720" y="2834640"/>
            <a:ext cx="3093415" cy="1920240"/>
          </a:xfrm>
          <a:prstGeom prst="trapezoid">
            <a:avLst>
              <a:gd name="adj" fmla="val 42000"/>
            </a:avLst>
          </a:prstGeom>
          <a:solidFill>
            <a:srgbClr val="E7E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232324" y="3108960"/>
            <a:ext cx="272220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7929" y="3383280"/>
            <a:ext cx="235099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03534" y="3657600"/>
            <a:ext cx="197978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89139" y="3931920"/>
            <a:ext cx="160857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74744" y="4206240"/>
            <a:ext cx="123736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60349" y="4480560"/>
            <a:ext cx="86615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00234" y="4754880"/>
            <a:ext cx="586386" cy="64008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234" y="4773168"/>
            <a:ext cx="586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0234" y="5102352"/>
            <a:ext cx="5863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700" b="1">
                <a:solidFill>
                  <a:srgbClr val="3E2A1C"/>
                </a:solidFill>
                <a:latin typeface="Onest"/>
              </a:rPr>
              <a:t>ВИТРИНА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483699" y="5440680"/>
            <a:ext cx="219456" cy="365760"/>
          </a:xfrm>
          <a:prstGeom prst="down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580644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16140F"/>
                </a:solidFill>
                <a:latin typeface="Onest"/>
              </a:rPr>
              <a:t>ИГРОК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ЦЕПОЧКА ЗАВИСИМОСТЕЙ · ТЕСТ ОТКАЗОМ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Тест отказом
по четырём уровням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движок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Берёшь другой. Valve ушла с Quake и собрала GoldSrc; CD Projekt уходит с REDengine на Unreal.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подрядчик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Меняешь. Сотни студий, профили пересекаются.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издатель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Ищешь другого или идёшь без него. Игрок этого даже не заметит.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Есть, но дорогая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1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6A1B"/>
                </a:solidFill>
                <a:latin typeface="Onest"/>
              </a:rPr>
              <a:t>Откажет витрина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351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C9C4B8"/>
                </a:solidFill>
                <a:latin typeface="Onest"/>
              </a:rPr>
              <a:t>Игры не существует. Игрок физически не может её найти и купить.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2351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Альтернативы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Три уровня из четырёх заменяемы. Жёсткая зависимость ровно одна.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ГОРЛЫШКО · 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Горлышко — </a:t>
            </a:r>
            <a:r>
              <a:rPr sz="3600" b="1">
                <a:solidFill>
                  <a:srgbClr val="F26A1B"/>
                </a:solidFill>
                <a:latin typeface="Onest"/>
              </a:rPr>
              <a:t>уровень витрин</a:t>
            </a:r>
            <a:r>
              <a:rPr sz="3600" b="1">
                <a:solidFill>
                  <a:srgbClr val="F1ECE3"/>
                </a:solidFill>
                <a:latin typeface="Onest"/>
              </a:rPr>
              <a:t>,
а не отдельная компания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выручки PC-дистрибуции у Steam — это лишь PC-проекция горлышка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2–3%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GOG — третьей витрины PC. Всё, что не Steam и не Epic, — крошки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9676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8–10%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9676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Epic, который раздаёт игры бесплатно не первый год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мешает войти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Купленная библиотека не переносится. Уйти — значит бросить всё, за что заплачено.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Контраргумент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Steam — только PC. Поэтому горлышко не компания, а уровень: в каждой экосистеме своя витрина.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ГОРЛЫШКО · ПРОВЕРЕННЫЕ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случая отключения
игры витриной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6 МЕСЯЦЕВ ВНЕ PS STORE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02666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Sony убрала игру 18.12.2020 и вернула деньги всем. Вернулась 21.06.2021.  Акции CD Projekt — минус 20% за день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ПОЧТИ 5 ЛЕТ ВНЕ APP STORE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302666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Fortnite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Apple удалила игру в августе 2020-го. Вернулась в американский App Store в мае 2025-го.  Пять лет игры не существовало для 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ТОЛЬКО VK PLAY В РФ И СНГ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302666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Atomic Heart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релизе 21.02.2023 страница в Steam была недоступна в регионе.  Больше трёх лет без Steam в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Игра была готова и куплена. Отказал только уровень витрины — и этого хватило.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ЗАПУСКАЕМ
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Тренды и регуляторы. Две перерисованные карты и механизм перехода между ними.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ТРЕНДЫ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тренда, которые действуют
на цепочку уже сейчас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 ОПРОСУ GDC 2026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i_layers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93522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Внедрение 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ИИ входит в отрасль сверху, от коммерции, а не снизу от производства: 58% в издательствах и маркетинге против 30% в студиях. Внутри студий первыми режут QA — 22% против 7% в среднем.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pen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Креаторская экономика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Игра внутри игры: Roblox, Fortnite Creative, UGC-моды. Игрок становится автором контента, а платформа — витриной для чужих игр внутри своей.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key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Ставка на франшизы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Продолжения проверенных миров вместо новых ИС: «Ведьмак» 4 и 5, GTA VI. Риск нового концепта заменяется опорой на уже купленное игроком.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Все три идут сверху — от владельцев движков, платформ и издателей, а не от запроса разработчиков.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0325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0325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РЕГУЛЯТОРЫ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Четыре типа регуляторов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42615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Государственные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Законодательство, цензура, локализация. И поддержка: гранты — CD Projekt получала польские.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6251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doc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0027" y="2642615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42283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Отраслевые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PEGI, ESRB, IARC — возрастные рейтинги. Без них консольная витрина игру не берёт.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4175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ey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919" y="2642615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Социальные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Соцнормы и СМИ. Игра проходит «по бумажкам», но получает негатив, если идёт против актуальных требований общества.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035" y="2148840"/>
            <a:ext cx="2627299" cy="3657600"/>
          </a:xfrm>
          <a:prstGeom prst="roundRect">
            <a:avLst>
              <a:gd name="adj" fmla="val 5568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26067" y="2404872"/>
            <a:ext cx="1051560" cy="1051560"/>
          </a:xfrm>
          <a:prstGeom prst="ellipse">
            <a:avLst/>
          </a:prstGeom>
          <a:solidFill>
            <a:srgbClr val="D95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i_funnel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3811" y="2642615"/>
            <a:ext cx="576071" cy="5760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26067" y="3621024"/>
            <a:ext cx="21152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Частные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067" y="4023360"/>
            <a:ext cx="2115235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Владельцы витрин: Apple — App Store, Google — Google Play, Sony — PlayStation, Microsoft — Xbox, Nintendo — eShop, Valve — Steam.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Регулятор — с двух сторон: одна рука ограничивает, другая поддерживает. Частный регулятор — это и есть наш этаж 08: витрина диктует условия входа.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4 · СИТУАЦИЯ 1.5 ·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10029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6140F"/>
                </a:solidFill>
                <a:latin typeface="Onest"/>
              </a:rPr>
              <a:t>Ситуация 1.5: структура та же,
власть съезжает к краям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8745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5495" y="1874519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67127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167127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167127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67127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5856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79" y="2300859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79" y="2300859"/>
            <a:ext cx="14401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франшизы дорожают</a:t>
            </a:r>
          </a:p>
        </p:txBody>
      </p:sp>
      <p:pic>
        <p:nvPicPr>
          <p:cNvPr id="16" name="Picture 15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6132" y="2240279"/>
            <a:ext cx="298323" cy="298323"/>
          </a:xfrm>
          <a:prstGeom prst="rect">
            <a:avLst/>
          </a:prstGeom>
        </p:spPr>
      </p:pic>
      <p:pic>
        <p:nvPicPr>
          <p:cNvPr id="17" name="Picture 16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505" y="2240279"/>
            <a:ext cx="298323" cy="298323"/>
          </a:xfrm>
          <a:prstGeom prst="rect">
            <a:avLst/>
          </a:prstGeom>
        </p:spPr>
      </p:pic>
      <p:pic>
        <p:nvPicPr>
          <p:cNvPr id="18" name="Picture 17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6878" y="2240279"/>
            <a:ext cx="298323" cy="298323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94360" y="2675762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2675762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2675762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2675762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23" name="Picture 2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6132" y="2748914"/>
            <a:ext cx="298323" cy="298323"/>
          </a:xfrm>
          <a:prstGeom prst="rect">
            <a:avLst/>
          </a:prstGeom>
        </p:spPr>
      </p:pic>
      <p:pic>
        <p:nvPicPr>
          <p:cNvPr id="24" name="Picture 23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505" y="2748914"/>
            <a:ext cx="298323" cy="29832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94360" y="318439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184398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318439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318439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79" y="3275838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79" y="3318129"/>
            <a:ext cx="205740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79" y="3318129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ИИ встраивается в редактор</a:t>
            </a:r>
          </a:p>
        </p:txBody>
      </p:sp>
      <p:pic>
        <p:nvPicPr>
          <p:cNvPr id="32" name="Picture 31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16132" y="3257550"/>
            <a:ext cx="298323" cy="298323"/>
          </a:xfrm>
          <a:prstGeom prst="rect">
            <a:avLst/>
          </a:prstGeom>
        </p:spPr>
      </p:pic>
      <p:pic>
        <p:nvPicPr>
          <p:cNvPr id="33" name="Picture 32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71505" y="3257550"/>
            <a:ext cx="298323" cy="298323"/>
          </a:xfrm>
          <a:prstGeom prst="rect">
            <a:avLst/>
          </a:prstGeom>
        </p:spPr>
      </p:pic>
      <p:pic>
        <p:nvPicPr>
          <p:cNvPr id="34" name="Picture 33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6878" y="3257550"/>
            <a:ext cx="298323" cy="298323"/>
          </a:xfrm>
          <a:prstGeom prst="rect">
            <a:avLst/>
          </a:prstGeom>
        </p:spPr>
      </p:pic>
      <p:pic>
        <p:nvPicPr>
          <p:cNvPr id="35" name="Picture 34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2251" y="3257550"/>
            <a:ext cx="298323" cy="29832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94360" y="369303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69303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" y="369303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6B6558"/>
                </a:solidFill>
                <a:latin typeface="Onest"/>
              </a:rPr>
              <a:t>Компоненты
и аутсорс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61288" y="3915346"/>
            <a:ext cx="1627632" cy="0"/>
          </a:xfrm>
          <a:prstGeom prst="line">
            <a:avLst/>
          </a:prstGeom>
          <a:ln w="19050">
            <a:solidFill>
              <a:srgbClr val="F26A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383279" y="378447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83279" y="3826764"/>
            <a:ext cx="2743199" cy="219456"/>
          </a:xfrm>
          <a:prstGeom prst="roundRect">
            <a:avLst>
              <a:gd name="adj" fmla="val 50000"/>
            </a:avLst>
          </a:prstGeom>
          <a:solidFill>
            <a:srgbClr val="D3C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79" y="3826764"/>
            <a:ext cx="27431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16140F"/>
                </a:solidFill>
                <a:latin typeface="Onest"/>
              </a:rPr>
              <a:t>сокращается: QA и рутину забирает ИИ</a:t>
            </a:r>
          </a:p>
        </p:txBody>
      </p:sp>
      <p:pic>
        <p:nvPicPr>
          <p:cNvPr id="43" name="Picture 4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7154" y="3766185"/>
            <a:ext cx="607300" cy="298323"/>
          </a:xfrm>
          <a:prstGeom prst="rect">
            <a:avLst/>
          </a:prstGeom>
        </p:spPr>
      </p:pic>
      <p:pic>
        <p:nvPicPr>
          <p:cNvPr id="44" name="Picture 4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92170" y="3804180"/>
            <a:ext cx="868680" cy="222331"/>
          </a:xfrm>
          <a:prstGeom prst="rect">
            <a:avLst/>
          </a:prstGeom>
        </p:spPr>
      </p:pic>
      <p:pic>
        <p:nvPicPr>
          <p:cNvPr id="45" name="Picture 4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59723" y="3766185"/>
            <a:ext cx="686142" cy="298323"/>
          </a:xfrm>
          <a:prstGeom prst="rect">
            <a:avLst/>
          </a:prstGeom>
        </p:spPr>
      </p:pic>
      <p:pic>
        <p:nvPicPr>
          <p:cNvPr id="46" name="Picture 4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44739" y="3797273"/>
            <a:ext cx="868680" cy="23614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594360" y="420166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" y="420166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1288" y="420166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79" y="4201668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51" name="Picture 5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6132" y="4274820"/>
            <a:ext cx="298323" cy="298323"/>
          </a:xfrm>
          <a:prstGeom prst="rect">
            <a:avLst/>
          </a:prstGeom>
        </p:spPr>
      </p:pic>
      <p:pic>
        <p:nvPicPr>
          <p:cNvPr id="52" name="Picture 5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71505" y="4274820"/>
            <a:ext cx="298323" cy="298323"/>
          </a:xfrm>
          <a:prstGeom prst="rect">
            <a:avLst/>
          </a:prstGeom>
        </p:spPr>
      </p:pic>
      <p:pic>
        <p:nvPicPr>
          <p:cNvPr id="53" name="Picture 5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6878" y="4274820"/>
            <a:ext cx="298323" cy="298323"/>
          </a:xfrm>
          <a:prstGeom prst="rect">
            <a:avLst/>
          </a:prstGeom>
        </p:spPr>
      </p:pic>
      <p:pic>
        <p:nvPicPr>
          <p:cNvPr id="54" name="Picture 5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251" y="4274820"/>
            <a:ext cx="298323" cy="298323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594360" y="471030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4360" y="4710303"/>
            <a:ext cx="54864" cy="444627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71030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1288" y="471030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79" y="480174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83279" y="4844034"/>
            <a:ext cx="1783080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83279" y="484403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ИИ плотнее всего здесь</a:t>
            </a:r>
          </a:p>
        </p:txBody>
      </p:sp>
      <p:pic>
        <p:nvPicPr>
          <p:cNvPr id="62" name="Picture 61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16132" y="4783455"/>
            <a:ext cx="298323" cy="298323"/>
          </a:xfrm>
          <a:prstGeom prst="rect">
            <a:avLst/>
          </a:prstGeom>
        </p:spPr>
      </p:pic>
      <p:pic>
        <p:nvPicPr>
          <p:cNvPr id="63" name="Picture 62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71505" y="4783455"/>
            <a:ext cx="298323" cy="298323"/>
          </a:xfrm>
          <a:prstGeom prst="rect">
            <a:avLst/>
          </a:prstGeom>
        </p:spPr>
      </p:pic>
      <p:pic>
        <p:nvPicPr>
          <p:cNvPr id="64" name="Picture 63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26878" y="4783455"/>
            <a:ext cx="298323" cy="298323"/>
          </a:xfrm>
          <a:prstGeom prst="rect">
            <a:avLst/>
          </a:prstGeom>
        </p:spPr>
      </p:pic>
      <p:pic>
        <p:nvPicPr>
          <p:cNvPr id="65" name="Picture 64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82251" y="4783455"/>
            <a:ext cx="298323" cy="298323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594360" y="5218938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0664" y="5218938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1288" y="5218938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83279" y="5218938"/>
            <a:ext cx="4937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70" name="Picture 69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16132" y="5292090"/>
            <a:ext cx="298323" cy="298323"/>
          </a:xfrm>
          <a:prstGeom prst="rect">
            <a:avLst/>
          </a:prstGeom>
        </p:spPr>
      </p:pic>
      <p:pic>
        <p:nvPicPr>
          <p:cNvPr id="71" name="Picture 70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71505" y="5292090"/>
            <a:ext cx="298323" cy="298323"/>
          </a:xfrm>
          <a:prstGeom prst="rect">
            <a:avLst/>
          </a:prstGeom>
        </p:spPr>
      </p:pic>
      <p:pic>
        <p:nvPicPr>
          <p:cNvPr id="72" name="Picture 71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26878" y="5292090"/>
            <a:ext cx="298323" cy="298323"/>
          </a:xfrm>
          <a:prstGeom prst="rect">
            <a:avLst/>
          </a:prstGeom>
        </p:spPr>
      </p:pic>
      <p:pic>
        <p:nvPicPr>
          <p:cNvPr id="73" name="Picture 72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782251" y="5292090"/>
            <a:ext cx="298323" cy="298323"/>
          </a:xfrm>
          <a:prstGeom prst="rect">
            <a:avLst/>
          </a:prstGeom>
        </p:spPr>
      </p:pic>
      <p:pic>
        <p:nvPicPr>
          <p:cNvPr id="74" name="Picture 73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337624" y="5292090"/>
            <a:ext cx="298323" cy="298323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94360" y="5727573"/>
            <a:ext cx="11002975" cy="444627"/>
          </a:xfrm>
          <a:prstGeom prst="roundRect">
            <a:avLst>
              <a:gd name="adj" fmla="val 24678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0664" y="5727573"/>
            <a:ext cx="3657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727573"/>
            <a:ext cx="2194560" cy="4446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83279" y="5819013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383279" y="5861304"/>
            <a:ext cx="3086099" cy="219456"/>
          </a:xfrm>
          <a:prstGeom prst="roundRect">
            <a:avLst>
              <a:gd name="adj" fmla="val 50000"/>
            </a:avLst>
          </a:prstGeom>
          <a:solidFill>
            <a:srgbClr val="5A2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83279" y="5861304"/>
            <a:ext cx="30860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F9A52"/>
                </a:solidFill>
                <a:latin typeface="Onest"/>
              </a:rPr>
              <a:t>горлышко остаётся + регулятор ИИ-контента</a:t>
            </a:r>
          </a:p>
        </p:txBody>
      </p:sp>
      <p:pic>
        <p:nvPicPr>
          <p:cNvPr id="81" name="Picture 80" descr="googleplay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16132" y="5800725"/>
            <a:ext cx="298323" cy="298323"/>
          </a:xfrm>
          <a:prstGeom prst="rect">
            <a:avLst/>
          </a:prstGeom>
        </p:spPr>
      </p:pic>
      <p:pic>
        <p:nvPicPr>
          <p:cNvPr id="82" name="Picture 81" descr="appstore_paper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71505" y="5800725"/>
            <a:ext cx="298323" cy="298323"/>
          </a:xfrm>
          <a:prstGeom prst="rect">
            <a:avLst/>
          </a:prstGeom>
        </p:spPr>
      </p:pic>
      <p:pic>
        <p:nvPicPr>
          <p:cNvPr id="83" name="Picture 82" descr="nintendoswitch_paper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226878" y="5800725"/>
            <a:ext cx="298323" cy="298323"/>
          </a:xfrm>
          <a:prstGeom prst="rect">
            <a:avLst/>
          </a:prstGeom>
        </p:spPr>
      </p:pic>
      <p:pic>
        <p:nvPicPr>
          <p:cNvPr id="84" name="Picture 83" descr="xbox_paper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782251" y="5800725"/>
            <a:ext cx="298323" cy="298323"/>
          </a:xfrm>
          <a:prstGeom prst="rect">
            <a:avLst/>
          </a:prstGeom>
        </p:spPr>
      </p:pic>
      <p:pic>
        <p:nvPicPr>
          <p:cNvPr id="85" name="Picture 84" descr="playstation_paper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37624" y="5800725"/>
            <a:ext cx="298323" cy="298323"/>
          </a:xfrm>
          <a:prstGeom prst="rect">
            <a:avLst/>
          </a:prstGeom>
        </p:spPr>
      </p:pic>
      <p:pic>
        <p:nvPicPr>
          <p:cNvPr id="86" name="Picture 85" descr="steam_paper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92997" y="5800725"/>
            <a:ext cx="298323" cy="298323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94360" y="62636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Тренды и регуляторы действуют, этажей по-прежнему восемь. Усиливаются издание и движки, сжимается аутсорс. Горлышко на витрине никуда не уходит — власть уходит вверх к издателю и вниз к витрине.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5 · СИТУАЦИЯ 2 ·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10029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6140F"/>
                </a:solidFill>
                <a:latin typeface="Onest"/>
              </a:rPr>
              <a:t>Ситуация 2: два этажа
схлопнулись в один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8745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5495" y="1874519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67127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167127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2167127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167127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3" name="Picture 12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2242892"/>
            <a:ext cx="365760" cy="365760"/>
          </a:xfrm>
          <a:prstGeom prst="rect">
            <a:avLst/>
          </a:prstGeom>
        </p:spPr>
      </p:pic>
      <p:pic>
        <p:nvPicPr>
          <p:cNvPr id="14" name="Picture 13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2242892"/>
            <a:ext cx="365760" cy="365760"/>
          </a:xfrm>
          <a:prstGeom prst="rect">
            <a:avLst/>
          </a:prstGeom>
        </p:spPr>
      </p:pic>
      <p:pic>
        <p:nvPicPr>
          <p:cNvPr id="15" name="Picture 14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2242892"/>
            <a:ext cx="365760" cy="3657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2748425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2748425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2748425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2748425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20" name="Picture 19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824189"/>
            <a:ext cx="365760" cy="365760"/>
          </a:xfrm>
          <a:prstGeom prst="rect">
            <a:avLst/>
          </a:prstGeom>
        </p:spPr>
      </p:pic>
      <p:pic>
        <p:nvPicPr>
          <p:cNvPr id="21" name="Picture 2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824189"/>
            <a:ext cx="365760" cy="3657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94360" y="3329722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329722"/>
            <a:ext cx="54864" cy="517289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" y="3329722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3329722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79" y="3421162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Производственный стандарт + встроенный AGI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79" y="3536115"/>
            <a:ext cx="3086099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79" y="3536115"/>
            <a:ext cx="30860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AGI в движке: разработка становится легче</a:t>
            </a:r>
          </a:p>
        </p:txBody>
      </p:sp>
      <p:pic>
        <p:nvPicPr>
          <p:cNvPr id="29" name="Picture 28" descr="godoteng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3405486"/>
            <a:ext cx="365760" cy="365760"/>
          </a:xfrm>
          <a:prstGeom prst="rect">
            <a:avLst/>
          </a:prstGeom>
        </p:spPr>
      </p:pic>
      <p:pic>
        <p:nvPicPr>
          <p:cNvPr id="30" name="Picture 29" descr="un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3405486"/>
            <a:ext cx="365760" cy="365760"/>
          </a:xfrm>
          <a:prstGeom prst="rect">
            <a:avLst/>
          </a:prstGeom>
        </p:spPr>
      </p:pic>
      <p:pic>
        <p:nvPicPr>
          <p:cNvPr id="31" name="Picture 30" descr="unrealeng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3405486"/>
            <a:ext cx="365760" cy="3657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594360" y="3911019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3911019"/>
            <a:ext cx="54864" cy="517289"/>
          </a:xfrm>
          <a:prstGeom prst="rect">
            <a:avLst/>
          </a:prstGeom>
          <a:solidFill>
            <a:srgbClr val="16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911019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3911019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79" y="4002459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79" y="4117412"/>
            <a:ext cx="3840480" cy="219456"/>
          </a:xfrm>
          <a:prstGeom prst="roundRect">
            <a:avLst>
              <a:gd name="adj" fmla="val 50000"/>
            </a:avLst>
          </a:prstGeom>
          <a:solidFill>
            <a:srgbClr val="16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79" y="411741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1ECE3"/>
                </a:solidFill>
                <a:latin typeface="Onest"/>
              </a:rPr>
              <a:t>поглотила этаж 04: компоненты делает сама, через AGI</a:t>
            </a:r>
          </a:p>
        </p:txBody>
      </p:sp>
      <p:pic>
        <p:nvPicPr>
          <p:cNvPr id="39" name="Picture 38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3986784"/>
            <a:ext cx="365760" cy="365760"/>
          </a:xfrm>
          <a:prstGeom prst="rect">
            <a:avLst/>
          </a:prstGeom>
        </p:spPr>
      </p:pic>
      <p:pic>
        <p:nvPicPr>
          <p:cNvPr id="40" name="Picture 39" descr="riotgam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6631" y="3986784"/>
            <a:ext cx="365760" cy="365760"/>
          </a:xfrm>
          <a:prstGeom prst="rect">
            <a:avLst/>
          </a:prstGeom>
        </p:spPr>
      </p:pic>
      <p:pic>
        <p:nvPicPr>
          <p:cNvPr id="41" name="Picture 40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3986784"/>
            <a:ext cx="365760" cy="365760"/>
          </a:xfrm>
          <a:prstGeom prst="rect">
            <a:avLst/>
          </a:prstGeom>
        </p:spPr>
      </p:pic>
      <p:pic>
        <p:nvPicPr>
          <p:cNvPr id="42" name="Picture 4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3986784"/>
            <a:ext cx="365760" cy="36576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94360" y="4492316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360" y="4492316"/>
            <a:ext cx="54864" cy="517289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4492316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" y="4492316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79" y="458375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83279" y="4698709"/>
            <a:ext cx="3566159" cy="219456"/>
          </a:xfrm>
          <a:prstGeom prst="roundRect">
            <a:avLst>
              <a:gd name="adj" fmla="val 50000"/>
            </a:avLst>
          </a:prstGeom>
          <a:solidFill>
            <a:srgbClr val="F9DF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83279" y="4698709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B34405"/>
                </a:solidFill>
                <a:latin typeface="Onest"/>
              </a:rPr>
              <a:t>финансирование + маркетинг + legal в одних руках</a:t>
            </a:r>
          </a:p>
        </p:txBody>
      </p:sp>
      <p:pic>
        <p:nvPicPr>
          <p:cNvPr id="50" name="Picture 49" descr="squareen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48695" y="4568081"/>
            <a:ext cx="365760" cy="365760"/>
          </a:xfrm>
          <a:prstGeom prst="rect">
            <a:avLst/>
          </a:prstGeom>
        </p:spPr>
      </p:pic>
      <p:pic>
        <p:nvPicPr>
          <p:cNvPr id="51" name="Picture 50" descr="e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36631" y="4568081"/>
            <a:ext cx="365760" cy="365760"/>
          </a:xfrm>
          <a:prstGeom prst="rect">
            <a:avLst/>
          </a:prstGeom>
        </p:spPr>
      </p:pic>
      <p:pic>
        <p:nvPicPr>
          <p:cNvPr id="52" name="Picture 51" descr="ubisof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24567" y="4568081"/>
            <a:ext cx="365760" cy="365760"/>
          </a:xfrm>
          <a:prstGeom prst="rect">
            <a:avLst/>
          </a:prstGeom>
        </p:spPr>
      </p:pic>
      <p:pic>
        <p:nvPicPr>
          <p:cNvPr id="53" name="Picture 52" descr="son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12503" y="4568081"/>
            <a:ext cx="365760" cy="365760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594360" y="5073613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" y="5073613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1288" y="5073613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79" y="5073613"/>
            <a:ext cx="4937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8" name="Picture 57" descr="androi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8695" y="5149378"/>
            <a:ext cx="365760" cy="365760"/>
          </a:xfrm>
          <a:prstGeom prst="rect">
            <a:avLst/>
          </a:prstGeom>
        </p:spPr>
      </p:pic>
      <p:pic>
        <p:nvPicPr>
          <p:cNvPr id="59" name="Picture 58" descr="appl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36631" y="5149378"/>
            <a:ext cx="365760" cy="365760"/>
          </a:xfrm>
          <a:prstGeom prst="rect">
            <a:avLst/>
          </a:prstGeom>
        </p:spPr>
      </p:pic>
      <p:pic>
        <p:nvPicPr>
          <p:cNvPr id="60" name="Picture 59" descr="nintendoswit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24567" y="5149378"/>
            <a:ext cx="365760" cy="365760"/>
          </a:xfrm>
          <a:prstGeom prst="rect">
            <a:avLst/>
          </a:prstGeom>
        </p:spPr>
      </p:pic>
      <p:pic>
        <p:nvPicPr>
          <p:cNvPr id="61" name="Picture 60" descr="xbox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2503" y="5149378"/>
            <a:ext cx="365760" cy="365760"/>
          </a:xfrm>
          <a:prstGeom prst="rect">
            <a:avLst/>
          </a:prstGeom>
        </p:spPr>
      </p:pic>
      <p:pic>
        <p:nvPicPr>
          <p:cNvPr id="62" name="Picture 61" descr="playstation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00439" y="5149378"/>
            <a:ext cx="365760" cy="365760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94360" y="5654910"/>
            <a:ext cx="11002975" cy="517289"/>
          </a:xfrm>
          <a:prstGeom prst="roundRect">
            <a:avLst>
              <a:gd name="adj" fmla="val 21212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0664" y="5654910"/>
            <a:ext cx="3657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1288" y="5654910"/>
            <a:ext cx="2194560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79" y="574635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383279" y="586130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5A2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3279" y="5861304"/>
            <a:ext cx="14401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1">
                <a:solidFill>
                  <a:srgbClr val="FF9A52"/>
                </a:solidFill>
                <a:latin typeface="Onest"/>
              </a:rPr>
              <a:t>горлышко остаётся</a:t>
            </a:r>
          </a:p>
        </p:txBody>
      </p:sp>
      <p:pic>
        <p:nvPicPr>
          <p:cNvPr id="69" name="Picture 68" descr="googleplay_pap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730675"/>
            <a:ext cx="365760" cy="365760"/>
          </a:xfrm>
          <a:prstGeom prst="rect">
            <a:avLst/>
          </a:prstGeom>
        </p:spPr>
      </p:pic>
      <p:pic>
        <p:nvPicPr>
          <p:cNvPr id="70" name="Picture 69" descr="appstore_paper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730675"/>
            <a:ext cx="365760" cy="365760"/>
          </a:xfrm>
          <a:prstGeom prst="rect">
            <a:avLst/>
          </a:prstGeom>
        </p:spPr>
      </p:pic>
      <p:pic>
        <p:nvPicPr>
          <p:cNvPr id="71" name="Picture 70" descr="nintendoswitch_pape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730675"/>
            <a:ext cx="365760" cy="365760"/>
          </a:xfrm>
          <a:prstGeom prst="rect">
            <a:avLst/>
          </a:prstGeom>
        </p:spPr>
      </p:pic>
      <p:pic>
        <p:nvPicPr>
          <p:cNvPr id="72" name="Picture 71" descr="xbox_paper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730675"/>
            <a:ext cx="365760" cy="365760"/>
          </a:xfrm>
          <a:prstGeom prst="rect">
            <a:avLst/>
          </a:prstGeom>
        </p:spPr>
      </p:pic>
      <p:pic>
        <p:nvPicPr>
          <p:cNvPr id="73" name="Picture 72" descr="playstation_pap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730675"/>
            <a:ext cx="365760" cy="365760"/>
          </a:xfrm>
          <a:prstGeom prst="rect">
            <a:avLst/>
          </a:prstGeom>
        </p:spPr>
      </p:pic>
      <p:pic>
        <p:nvPicPr>
          <p:cNvPr id="74" name="Picture 73" descr="steam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88375" y="5730675"/>
            <a:ext cx="365760" cy="36576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94360" y="62636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Тренд — внедрение AGI. Технология схлопывает два уровня: компоненты и аутсорс перестают быть отдельным рынком и уходят внутрь разработки. Этажей семь. Это один из четырёх механизмов перестройки из установки такта.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19125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1912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6 · МЕХАНИЗМ ПЕРЕХОДА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За счёт чего карта переходит
из 1.5 в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AGI встраивается
в движок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Unreal и Unity получают генерацию ассетов, кода и QA внутри редактора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52308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5188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780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780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Разработка
дешевеет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780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Студия делает компоненты сама: то, что раньше отдавали подрядчику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93137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76017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0609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0609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Аутсорсу нечего
продавать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0609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Контракты на арт, анимацию и QA исчезают — объект конкуренции этажа 04 пропадает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33965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6845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1437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B34405"/>
                </a:solidFill>
                <a:latin typeface="Ones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1437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Этаж 04 уходит
в этаж 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1437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Уровень без своего объекта конкуренции — не уровень. Карта из восьми становится семью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74794" y="342900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57674" y="2468880"/>
            <a:ext cx="2039660" cy="2103120"/>
          </a:xfrm>
          <a:prstGeom prst="roundRect">
            <a:avLst>
              <a:gd name="adj" fmla="val 6276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2266" y="2670048"/>
            <a:ext cx="17104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5A3416"/>
                </a:solidFill>
                <a:latin typeface="Ones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2266" y="3017520"/>
            <a:ext cx="17104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Кто это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2266" y="3794760"/>
            <a:ext cx="17104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E2A1C"/>
                </a:solidFill>
                <a:latin typeface="Onest"/>
              </a:rPr>
              <a:t>Epic и Unity — они уже владеют стандартом и первыми получают выгоду от AGI внутри него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029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Проверка по установке: тренд идёт сверху — от владельцев движков и издателей, а не от запроса разработчиков. Создаёт силу этажу 03, убивает этаж 04. Переход в 1.5 уже идёт; переход в 2 требует AGI уровня продакшена.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БЛОК 7 · ГДЕ В ИНДУСТРИИ МЕСТО СИЛЫ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Место силы: витрина сегодня,
витрина и движок завтра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СЕЙЧАС И В 1.5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i_funnel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93522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Витрина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Горлышко: игра не доходит до игрока иначе как через неё. Мало игроков, нет альтернативы, а теперь ещё и регулятор ИИ-контента.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26A1B"/>
                </a:solidFill>
                <a:latin typeface="Onest"/>
              </a:rPr>
              <a:t>В СИТУАЦИИ 2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697479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layers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93522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Движок с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Второй центр силы: тот, кто владеет стандартом с встроенным AGI, решает, сколько стоит сделать игру — и забирает этаж аутсорса себе.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МАКСИМАЛЬНАЯ ПОЗИЦИЯ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93522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3913631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Витрина + движок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352544"/>
            <a:ext cx="3033674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Epic уже стоит на обоих: Unreal у 42% студий и Epic Games Store. Valve — Source и Steam. Двойная позиция на двух центрах силы — вот куда съезжает власть.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E2A1C"/>
                </a:solidFill>
                <a:latin typeface="Onest"/>
              </a:rPr>
              <a:t>Кто стоит на обоих центрах силы — витрине и движке, — тот и определяет правила для остальных этажей.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ИСТОЧНИКИ ВСЕХ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Откуда взяты числа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83080"/>
          <a:ext cx="110029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011680"/>
                <a:gridCol w="2956255"/>
              </a:tblGrid>
              <a:tr h="26356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ЧИСЛО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ГДЕ В ДЕКЕ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ИСТОЧНИК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ИИ: 36% профессионалов лично; 30% в студиях против 58% в издательствах и маркетинге; QA уволены 22% против 7%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Ситуация 1.5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2"/>
                        </a:rPr>
                        <a:t>gdconf.com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Unreal 42%, Unity 30% — основной движок студий (опрос GDC 2026); Godot 8–10% релизов Steam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3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74–75% PC-дистрибуции; Epic 8–10%; GOG 2–3%; 147 млн MAU; пик 42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этажи 08, горлышко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4"/>
                        </a:rPr>
                        <a:t>levvvel.com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Комиссии: Steam 30%, Epic 12%; с 06.2025 у Epic 0% на первый $1 млн в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5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Epic Games Store: 295 млн аккаунтов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измеримость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6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Роялти Unreal 5% после $1 млн; 0% при продаже в Epic Games Store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рычаг Epic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7"/>
                        </a:rPr>
                        <a:t>unrealengine.com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App Store 30%, 15% для малого бизнеса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8"/>
                        </a:rPr>
                        <a:t>developer.apple.com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Google Play 30%, 15% на первый $1 млн в год с разработчика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9"/>
                        </a:rPr>
                        <a:t>support.google.com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требует раскрывать ИИ-контент: pre-generated и live-generated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правила контента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0"/>
                        </a:rPr>
                        <a:t>partner.steamgames.com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CD Projekt: переход с REDengine на Unreal Engine 5, март 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03, 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1"/>
                        </a:rPr>
                        <a:t>cdprojekt.com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Sony купила Insomniac за $229 млн, август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2"/>
                        </a:rPr>
                        <a:t>gameworldobserver.com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Tencent: 93% Riot в 2011, 100% к концу 2015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3"/>
                        </a:rPr>
                        <a:t>techcrunch.com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Cyberpunk вне PS Store 18.12.2020 — 21.06.2021; акции CD Projekt −20%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4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Fortnite вне App Store: август 2020 — май 2025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5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Atomic Heart только в VK Play с 21.02.2023; в Steam РФ — 08.2026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6"/>
                        </a:rPr>
                        <a:t>habr.com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6356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Super Mario Bros. — 1985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7"/>
                        </a:rPr>
                        <a:t>nintendo.com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0936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Консольные комиссии (около 30%) платформы публично не раскрывают — указаны как оценка. Аудиторные метрики Steam и Epic взяты из одного агрегатора каждая и второй независимой публикацией не подтверждены.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0345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0345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ПОНЯТИЯ ТАКТА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Понятия, которыми пользовались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Конкуренция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Борьба за то, чего на всех не хватает. Всегда за что-то конкретное: если объект не назван, слово пустое.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9010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9010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То, обладание чем даёт преимущество. На каждом этаже свой. Не деньги и не доля рынка — это следствие. Если объект нельзя измерить, мы его не называем.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1828800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7628" y="1993392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Уровень (этаж)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7628" y="2304288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Место в отрасли, где есть свой объект конкуренции. Не шаг процесса: этажи существуют параллельно, одна компания может стоять на нескольких.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То, что мешает новому игроку занять уровень: право, стандарт, накопленная база, сертификация. Чем выше барьер, тем дольше держится горлышко.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2978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9010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Зависимость в цепочке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9010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Насколько жёстко уровень нуждается в соседнем. Меряется тестом отказом: что будет с цепочкой, если уровень откажет, и есть ли чем заменить.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1596" y="2990088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7628" y="3154680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Бутылочное горлышко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465576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Уровень, где мало игроков, а зависят от них все. Там сосредоточена власть над всей цепочкой. Мало игроков само по себе — ещё не горлышко: нужно, чтобы не было альтернативы.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Устойчивое изменение, которое действует на цепочку сейчас. Идёт снизу от запроса или сверху от регулятора.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2978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9010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Трендсеттер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9010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Тот, кто задаёт тренд и первым получает от него выгоду. Для ИИ в движке — Epic и Unity.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51596" y="4151376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7628" y="4315968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Регулятор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7628" y="4626864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Внешняя рамка, которая ограничивает или поддерживает: государственная, отраслевая, социальная, частная.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Ситуация 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Тренды действуют, структура цепочки не меняется: этажи те же, меняется их вес и место власти.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2978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9010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Ситуация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9010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Форма цепочки меняется: появляется новый этаж, встраивается новый игрок, два уровня схлопываются или кто-то обходит горлышко.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1596" y="5312664"/>
            <a:ext cx="3545738" cy="1051560"/>
          </a:xfrm>
          <a:prstGeom prst="roundRect">
            <a:avLst>
              <a:gd name="adj" fmla="val 1217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7628" y="5477256"/>
            <a:ext cx="303367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Механизм перехода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7628" y="5788152"/>
            <a:ext cx="303367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558"/>
                </a:solidFill>
                <a:latin typeface="Onest"/>
              </a:rPr>
              <a:t>Не «что будет», а «за счёт чего»: конкретное действие конкретного игрока, которое переводит карту из одного состояния в другое.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